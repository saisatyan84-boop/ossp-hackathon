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Consolas" panose="020B0609020204030204" pitchFamily="49" charset="0"/>
      <p:regular r:id="rId13"/>
      <p:bold r:id="rId14"/>
      <p:italic r:id="rId15"/>
      <p:boldItalic r:id="rId16"/>
    </p:embeddedFont>
    <p:embeddedFont>
      <p:font typeface="Exo" panose="020B0604020202020204" charset="0"/>
      <p:regular r:id="rId17"/>
    </p:embeddedFont>
    <p:embeddedFont>
      <p:font typeface="Exo SemiBold" panose="020B0604020202020204" charset="0"/>
      <p:regular r:id="rId18"/>
    </p:embeddedFont>
    <p:embeddedFont>
      <p:font typeface="Fira Mono" panose="020B0509050000020004" pitchFamily="49" charset="0"/>
      <p:regular r:id="rId19"/>
    </p:embeddedFont>
    <p:embeddedFont>
      <p:font typeface="Fira Mono Medium" panose="020B0609050000020004" pitchFamily="49" charset="0"/>
      <p:regular r:id="rId20"/>
    </p:embeddedFont>
    <p:embeddedFont>
      <p:font typeface="Michroma" panose="020B0604020202020204" charset="0"/>
      <p:regular r:id="rId21"/>
    </p:embeddedFont>
    <p:embeddedFont>
      <p:font typeface="MuseoModerno Bold" panose="020B0604020202020204" charset="0"/>
      <p:regular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30359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Relay is a local chat system built from OS-level IPC. It gives independent processes a shared conversation layer without turning them into one application.
We will follow the path from socket boundary to message frame, terminal interface, reliability controls, and live demo.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processes cannot share memory directly, but they still need to exchange meaningful messages. The key requirement is a controlled local path with structure and safety built in.
Relay addresses that gap while keeping each client independent.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objective is more than moving bytes between processes. Relay combines two-way messaging, broker routing, chat state, and a terminal interface into one usable system.
Those capabilities give the IPC mechanism a clear user-facing shape.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architecture from left to right. Client A, Client B, and Client C run as separate OS processes, while the Relay Server / Broker Process owns connections and message routing.
The Unix domain stream socket carries local traffic, and structured JSON frames make the protocol explicit.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AF_UNIX addresses processes through the local operating system, and SOCK_STREAM provides reliable byte-stream communication.
TCP is the network-oriented alternative. Relay selects Unix domain sockets for low overhead, no network exposure, and local-only communication.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JSON frame makes each message explicit: type, room, and text are visible and inspectable. The transport still delivers a byte stream, so Relay handles delimiters, fragmentation, and combined writes.
After validation, the server returns responses and acknowledgements so the client can see the result.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Relay’s feature set is grouped into four areas: messaging, presence, interface, and resilience.
The result is a chat tool with rooms, private messages, connected-user visibility, commands, Unicode support, acknowledgements, history, and graceful disconnects.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terminal makes the system state visible while it is running. The room, connected users, history, input area, and connection status all remain available for the next action.
The command vocabulary covers joining rooms, private messages, presence, statistics, help, clearing the view, and quitting.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Reliability starts at the local socket boundary. Relay checks same-user access and peer credentials, validates input and JSON, and applies message-size limits.
Resource limits, explicit disconnect handling, duplicate-server blocking, and the prohibition on arbitrary command execution complete the concrete posture without overstating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follows the IPC loop in order: start the broker, launch Alice and Bob in separate terminals, join a room, and exchange messages.
Then we show a private message, connected users, acknowledgements, and room history before closing one client to demonstrate disconnect handling.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50505"/>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0383" y="561022"/>
            <a:ext cx="7467413"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B5B5B5"/>
                </a:solidFill>
                <a:latin typeface="Fira Mono Medium" pitchFamily="34" charset="0"/>
                <a:ea typeface="Fira Mono Medium" pitchFamily="34" charset="-122"/>
                <a:cs typeface="Fira Mono Medium" pitchFamily="34" charset="-120"/>
              </a:rPr>
              <a:t>RELAY · IPC CHAT SYSTEM</a:t>
            </a:r>
            <a:endParaRPr lang="en-US" sz="1100" dirty="0"/>
          </a:p>
        </p:txBody>
      </p:sp>
      <p:sp>
        <p:nvSpPr>
          <p:cNvPr id="3" name="Text 1"/>
          <p:cNvSpPr/>
          <p:nvPr/>
        </p:nvSpPr>
        <p:spPr>
          <a:xfrm>
            <a:off x="660383" y="860766"/>
            <a:ext cx="6959426" cy="1195784"/>
          </a:xfrm>
          <a:prstGeom prst="rect">
            <a:avLst/>
          </a:prstGeom>
          <a:noFill/>
          <a:ln/>
        </p:spPr>
        <p:txBody>
          <a:bodyPr wrap="square" lIns="0" tIns="0" rIns="0" bIns="0" rtlCol="0" anchor="t">
            <a:normAutofit lnSpcReduction="10000"/>
          </a:bodyPr>
          <a:lstStyle/>
          <a:p>
            <a:pPr marL="0" indent="0" algn="l">
              <a:lnSpc>
                <a:spcPct val="89000"/>
              </a:lnSpc>
              <a:buNone/>
            </a:pPr>
            <a:r>
              <a:rPr lang="en-US" sz="4400" kern="100" spc="-53" dirty="0">
                <a:solidFill>
                  <a:srgbClr val="ECECEC"/>
                </a:solidFill>
                <a:latin typeface="Exo SemiBold" pitchFamily="34" charset="0"/>
                <a:ea typeface="Exo SemiBold" pitchFamily="34" charset="-122"/>
                <a:cs typeface="Exo SemiBold" pitchFamily="34" charset="-120"/>
              </a:rPr>
              <a:t>Inter-Process Chat Application Using IPC</a:t>
            </a:r>
            <a:endParaRPr lang="en-US" sz="4400" dirty="0"/>
          </a:p>
        </p:txBody>
      </p:sp>
      <p:sp>
        <p:nvSpPr>
          <p:cNvPr id="4" name="Shape 2"/>
          <p:cNvSpPr/>
          <p:nvPr/>
        </p:nvSpPr>
        <p:spPr>
          <a:xfrm>
            <a:off x="660383" y="2258417"/>
            <a:ext cx="1739856" cy="31651"/>
          </a:xfrm>
          <a:prstGeom prst="roundRect">
            <a:avLst>
              <a:gd name="adj" fmla="val 49998"/>
            </a:avLst>
          </a:prstGeom>
          <a:solidFill>
            <a:srgbClr val="9BE1FF"/>
          </a:solidFill>
          <a:ln/>
        </p:spPr>
      </p:sp>
      <p:sp>
        <p:nvSpPr>
          <p:cNvPr id="5" name="Text 3"/>
          <p:cNvSpPr/>
          <p:nvPr/>
        </p:nvSpPr>
        <p:spPr>
          <a:xfrm>
            <a:off x="660383" y="2674088"/>
            <a:ext cx="6959426" cy="318492"/>
          </a:xfrm>
          <a:prstGeom prst="rect">
            <a:avLst/>
          </a:prstGeom>
          <a:noFill/>
          <a:ln/>
        </p:spPr>
        <p:txBody>
          <a:bodyPr wrap="none" lIns="0" tIns="0" rIns="0" bIns="0" rtlCol="0" anchor="t"/>
          <a:lstStyle/>
          <a:p>
            <a:pPr marL="0" indent="0" algn="l">
              <a:lnSpc>
                <a:spcPct val="110000"/>
              </a:lnSpc>
              <a:buNone/>
            </a:pPr>
            <a:r>
              <a:rPr lang="en-US" sz="1900" dirty="0">
                <a:solidFill>
                  <a:srgbClr val="D5D5D5"/>
                </a:solidFill>
                <a:latin typeface="Exo" pitchFamily="34" charset="0"/>
                <a:ea typeface="Exo" pitchFamily="34" charset="-122"/>
                <a:cs typeface="Exo" pitchFamily="34" charset="-120"/>
              </a:rPr>
              <a:t>Real-time communication between independent processes</a:t>
            </a:r>
            <a:endParaRPr lang="en-US" sz="1900" dirty="0"/>
          </a:p>
        </p:txBody>
      </p:sp>
      <p:sp>
        <p:nvSpPr>
          <p:cNvPr id="6" name="Text 4"/>
          <p:cNvSpPr/>
          <p:nvPr/>
        </p:nvSpPr>
        <p:spPr>
          <a:xfrm>
            <a:off x="660383" y="4867315"/>
            <a:ext cx="3479713"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B5B5B5"/>
                </a:solidFill>
                <a:latin typeface="Fira Mono Medium" pitchFamily="34" charset="0"/>
                <a:ea typeface="Fira Mono Medium" pitchFamily="34" charset="-122"/>
                <a:cs typeface="Fira Mono Medium" pitchFamily="34" charset="-120"/>
              </a:rPr>
              <a:t>TEAM</a:t>
            </a:r>
            <a:endParaRPr lang="en-US" sz="1100" dirty="0"/>
          </a:p>
        </p:txBody>
      </p:sp>
      <p:sp>
        <p:nvSpPr>
          <p:cNvPr id="7" name="Text 5"/>
          <p:cNvSpPr/>
          <p:nvPr/>
        </p:nvSpPr>
        <p:spPr>
          <a:xfrm>
            <a:off x="660383" y="5160963"/>
            <a:ext cx="3479713" cy="243384"/>
          </a:xfrm>
          <a:prstGeom prst="rect">
            <a:avLst/>
          </a:prstGeom>
          <a:noFill/>
          <a:ln/>
        </p:spPr>
        <p:txBody>
          <a:bodyPr wrap="none" lIns="0" tIns="0" rIns="0" bIns="0" rtlCol="0" anchor="t"/>
          <a:lstStyle/>
          <a:p>
            <a:pPr marL="0" indent="0" algn="l">
              <a:lnSpc>
                <a:spcPct val="118000"/>
              </a:lnSpc>
              <a:buNone/>
            </a:pPr>
            <a:r>
              <a:rPr lang="en-US" sz="1350" dirty="0" err="1">
                <a:solidFill>
                  <a:srgbClr val="D5D5D5"/>
                </a:solidFill>
                <a:latin typeface="Exo" pitchFamily="34" charset="0"/>
              </a:rPr>
              <a:t>Espadas_OSSP</a:t>
            </a:r>
            <a:endParaRPr lang="en-US" sz="1350" dirty="0"/>
          </a:p>
        </p:txBody>
      </p:sp>
      <p:sp>
        <p:nvSpPr>
          <p:cNvPr id="8" name="Text 6"/>
          <p:cNvSpPr/>
          <p:nvPr/>
        </p:nvSpPr>
        <p:spPr>
          <a:xfrm>
            <a:off x="4343291" y="4867315"/>
            <a:ext cx="3276518"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B5B5B5"/>
                </a:solidFill>
                <a:latin typeface="Fira Mono Medium" pitchFamily="34" charset="0"/>
                <a:ea typeface="Fira Mono Medium" pitchFamily="34" charset="-122"/>
                <a:cs typeface="Fira Mono Medium" pitchFamily="34" charset="-120"/>
              </a:rPr>
              <a:t>MEMBERS</a:t>
            </a:r>
            <a:endParaRPr lang="en-US" sz="1100" dirty="0"/>
          </a:p>
        </p:txBody>
      </p:sp>
      <p:sp>
        <p:nvSpPr>
          <p:cNvPr id="9" name="Text 7"/>
          <p:cNvSpPr/>
          <p:nvPr/>
        </p:nvSpPr>
        <p:spPr>
          <a:xfrm>
            <a:off x="4343291" y="5160963"/>
            <a:ext cx="3276518" cy="243384"/>
          </a:xfrm>
          <a:prstGeom prst="rect">
            <a:avLst/>
          </a:prstGeom>
          <a:noFill/>
          <a:ln/>
        </p:spPr>
        <p:txBody>
          <a:bodyPr wrap="none" lIns="0" tIns="0" rIns="0" bIns="0" rtlCol="0" anchor="t"/>
          <a:lstStyle/>
          <a:p>
            <a:pPr marL="0" indent="0" algn="l">
              <a:lnSpc>
                <a:spcPct val="118000"/>
              </a:lnSpc>
              <a:buNone/>
            </a:pPr>
            <a:r>
              <a:rPr lang="en-US" sz="1350" dirty="0">
                <a:solidFill>
                  <a:schemeClr val="bg1"/>
                </a:solidFill>
              </a:rPr>
              <a:t>2520030088 – SATYAN</a:t>
            </a:r>
          </a:p>
          <a:p>
            <a:pPr marL="0" indent="0" algn="l">
              <a:lnSpc>
                <a:spcPct val="118000"/>
              </a:lnSpc>
              <a:buNone/>
            </a:pPr>
            <a:r>
              <a:rPr lang="en-US" sz="1350" dirty="0">
                <a:solidFill>
                  <a:schemeClr val="bg1"/>
                </a:solidFill>
              </a:rPr>
              <a:t>2520030084 – VISHNU</a:t>
            </a:r>
          </a:p>
          <a:p>
            <a:pPr marL="0" indent="0" algn="l">
              <a:lnSpc>
                <a:spcPct val="118000"/>
              </a:lnSpc>
              <a:buNone/>
            </a:pPr>
            <a:r>
              <a:rPr lang="en-US" sz="1350" dirty="0">
                <a:solidFill>
                  <a:schemeClr val="bg1"/>
                </a:solidFill>
              </a:rPr>
              <a:t>2520030523 - SANDEEP</a:t>
            </a:r>
          </a:p>
        </p:txBody>
      </p:sp>
      <p:sp>
        <p:nvSpPr>
          <p:cNvPr id="13" name="Text 11"/>
          <p:cNvSpPr/>
          <p:nvPr/>
        </p:nvSpPr>
        <p:spPr>
          <a:xfrm>
            <a:off x="4343291" y="6106616"/>
            <a:ext cx="3276518" cy="243384"/>
          </a:xfrm>
          <a:prstGeom prst="rect">
            <a:avLst/>
          </a:prstGeom>
          <a:noFill/>
          <a:ln/>
        </p:spPr>
        <p:txBody>
          <a:bodyPr wrap="none" lIns="0" tIns="0" rIns="0" bIns="0" rtlCol="0" anchor="t"/>
          <a:lstStyle/>
          <a:p>
            <a:pPr marL="0" indent="0" algn="l">
              <a:lnSpc>
                <a:spcPct val="118000"/>
              </a:lnSpc>
              <a:buNone/>
            </a:pPr>
            <a:endParaRPr lang="en-US" sz="1350" dirty="0"/>
          </a:p>
        </p:txBody>
      </p:sp>
      <p:pic>
        <p:nvPicPr>
          <p:cNvPr id="14" name="Image 0" descr="preencoded.png"/>
          <p:cNvPicPr>
            <a:picLocks noChangeAspect="1"/>
          </p:cNvPicPr>
          <p:nvPr/>
        </p:nvPicPr>
        <p:blipFill>
          <a:blip r:embed="rId3"/>
          <a:stretch>
            <a:fillRect/>
          </a:stretch>
        </p:blipFill>
        <p:spPr>
          <a:xfrm>
            <a:off x="8127797" y="0"/>
            <a:ext cx="4063898" cy="6858000"/>
          </a:xfrm>
          <a:prstGeom prst="rect">
            <a:avLst/>
          </a:prstGeom>
        </p:spPr>
      </p:pic>
      <p:sp>
        <p:nvSpPr>
          <p:cNvPr id="15" name="Shape 12"/>
          <p:cNvSpPr/>
          <p:nvPr/>
        </p:nvSpPr>
        <p:spPr>
          <a:xfrm>
            <a:off x="8127797" y="0"/>
            <a:ext cx="4063898" cy="6858000"/>
          </a:xfrm>
          <a:prstGeom prst="rect">
            <a:avLst/>
          </a:prstGeom>
          <a:solidFill>
            <a:srgbClr val="000000">
              <a:alpha val="18000"/>
            </a:srgbClr>
          </a:solidFill>
          <a:ln/>
        </p:spPr>
      </p:sp>
      <p:sp>
        <p:nvSpPr>
          <p:cNvPr id="16" name="Shape 13"/>
          <p:cNvSpPr/>
          <p:nvPr/>
        </p:nvSpPr>
        <p:spPr>
          <a:xfrm>
            <a:off x="4133746" y="4865092"/>
            <a:ext cx="45719" cy="1906644"/>
          </a:xfrm>
          <a:prstGeom prst="rect">
            <a:avLst/>
          </a:prstGeom>
          <a:solidFill>
            <a:srgbClr val="3F3F3F"/>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58786" y="484822"/>
            <a:ext cx="11632909"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B5B5B5"/>
                </a:solidFill>
                <a:latin typeface="Fira Mono Medium" pitchFamily="34" charset="0"/>
                <a:ea typeface="Fira Mono Medium" pitchFamily="34" charset="-122"/>
                <a:cs typeface="Fira Mono Medium" pitchFamily="34" charset="-120"/>
              </a:rPr>
              <a:t>THE PROBLEM</a:t>
            </a:r>
            <a:endParaRPr lang="en-US" sz="1100" dirty="0"/>
          </a:p>
        </p:txBody>
      </p:sp>
      <p:sp>
        <p:nvSpPr>
          <p:cNvPr id="3" name="Text 1"/>
          <p:cNvSpPr/>
          <p:nvPr/>
        </p:nvSpPr>
        <p:spPr>
          <a:xfrm>
            <a:off x="558786" y="777042"/>
            <a:ext cx="11074123" cy="951111"/>
          </a:xfrm>
          <a:prstGeom prst="rect">
            <a:avLst/>
          </a:prstGeom>
          <a:noFill/>
          <a:ln/>
        </p:spPr>
        <p:txBody>
          <a:bodyPr wrap="square" lIns="0" tIns="0" rIns="0" bIns="0" rtlCol="0" anchor="t">
            <a:normAutofit lnSpcReduction="10000"/>
          </a:bodyPr>
          <a:lstStyle/>
          <a:p>
            <a:pPr marL="0" indent="0" algn="l">
              <a:lnSpc>
                <a:spcPct val="89000"/>
              </a:lnSpc>
              <a:buNone/>
            </a:pPr>
            <a:r>
              <a:rPr lang="en-US" sz="3500" kern="100" spc="-42" dirty="0">
                <a:solidFill>
                  <a:srgbClr val="ECECEC"/>
                </a:solidFill>
                <a:latin typeface="Exo SemiBold" pitchFamily="34" charset="0"/>
                <a:ea typeface="Exo SemiBold" pitchFamily="34" charset="-122"/>
                <a:cs typeface="Exo SemiBold" pitchFamily="34" charset="-120"/>
              </a:rPr>
              <a:t>Independent processes need a shared conversation layer</a:t>
            </a:r>
            <a:endParaRPr lang="en-US" sz="3500" dirty="0"/>
          </a:p>
        </p:txBody>
      </p:sp>
      <p:sp>
        <p:nvSpPr>
          <p:cNvPr id="4" name="Shape 2"/>
          <p:cNvSpPr/>
          <p:nvPr/>
        </p:nvSpPr>
        <p:spPr>
          <a:xfrm>
            <a:off x="558786" y="1937544"/>
            <a:ext cx="2768531" cy="31651"/>
          </a:xfrm>
          <a:prstGeom prst="roundRect">
            <a:avLst>
              <a:gd name="adj" fmla="val 49998"/>
            </a:avLst>
          </a:prstGeom>
          <a:solidFill>
            <a:srgbClr val="9BE1FF"/>
          </a:solidFill>
          <a:ln/>
        </p:spPr>
      </p:sp>
      <p:sp>
        <p:nvSpPr>
          <p:cNvPr id="5" name="Text 3"/>
          <p:cNvSpPr/>
          <p:nvPr/>
        </p:nvSpPr>
        <p:spPr>
          <a:xfrm>
            <a:off x="558786" y="2194465"/>
            <a:ext cx="3513546" cy="318492"/>
          </a:xfrm>
          <a:prstGeom prst="rect">
            <a:avLst/>
          </a:prstGeom>
          <a:noFill/>
          <a:ln/>
        </p:spPr>
        <p:txBody>
          <a:bodyPr wrap="none" lIns="0" tIns="0" rIns="0" bIns="0" rtlCol="0" anchor="t"/>
          <a:lstStyle/>
          <a:p>
            <a:pPr marL="0" indent="0" algn="l">
              <a:lnSpc>
                <a:spcPct val="110000"/>
              </a:lnSpc>
              <a:buNone/>
            </a:pPr>
            <a:r>
              <a:rPr lang="en-US" sz="1900" dirty="0">
                <a:solidFill>
                  <a:srgbClr val="D5D5D5"/>
                </a:solidFill>
                <a:latin typeface="Exo" pitchFamily="34" charset="0"/>
                <a:ea typeface="Exo" pitchFamily="34" charset="-122"/>
                <a:cs typeface="Exo" pitchFamily="34" charset="-120"/>
              </a:rPr>
              <a:t>Separate memory</a:t>
            </a:r>
            <a:endParaRPr lang="en-US" sz="1900" dirty="0"/>
          </a:p>
        </p:txBody>
      </p:sp>
      <p:sp>
        <p:nvSpPr>
          <p:cNvPr id="6" name="Text 4"/>
          <p:cNvSpPr/>
          <p:nvPr/>
        </p:nvSpPr>
        <p:spPr>
          <a:xfrm>
            <a:off x="558786" y="2654498"/>
            <a:ext cx="3513546"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D5D5D5"/>
                </a:solidFill>
                <a:latin typeface="Exo" pitchFamily="34" charset="0"/>
                <a:ea typeface="Exo" pitchFamily="34" charset="-122"/>
                <a:cs typeface="Exo" pitchFamily="34" charset="-120"/>
              </a:rPr>
              <a:t>Separate processes have isolated memory spaces.</a:t>
            </a:r>
            <a:endParaRPr lang="en-US" sz="1500" dirty="0"/>
          </a:p>
        </p:txBody>
      </p:sp>
      <p:sp>
        <p:nvSpPr>
          <p:cNvPr id="7" name="Text 5"/>
          <p:cNvSpPr/>
          <p:nvPr/>
        </p:nvSpPr>
        <p:spPr>
          <a:xfrm>
            <a:off x="4427923" y="2194465"/>
            <a:ext cx="3335750" cy="318492"/>
          </a:xfrm>
          <a:prstGeom prst="rect">
            <a:avLst/>
          </a:prstGeom>
          <a:noFill/>
          <a:ln/>
        </p:spPr>
        <p:txBody>
          <a:bodyPr wrap="none" lIns="0" tIns="0" rIns="0" bIns="0" rtlCol="0" anchor="t"/>
          <a:lstStyle/>
          <a:p>
            <a:pPr marL="0" indent="0" algn="l">
              <a:lnSpc>
                <a:spcPct val="110000"/>
              </a:lnSpc>
              <a:buNone/>
            </a:pPr>
            <a:r>
              <a:rPr lang="en-US" sz="1900" dirty="0">
                <a:solidFill>
                  <a:srgbClr val="D5D5D5"/>
                </a:solidFill>
                <a:latin typeface="Exo" pitchFamily="34" charset="0"/>
                <a:ea typeface="Exo" pitchFamily="34" charset="-122"/>
                <a:cs typeface="Exo" pitchFamily="34" charset="-120"/>
              </a:rPr>
              <a:t>Safe exchange</a:t>
            </a:r>
            <a:endParaRPr lang="en-US" sz="1900" dirty="0"/>
          </a:p>
        </p:txBody>
      </p:sp>
      <p:sp>
        <p:nvSpPr>
          <p:cNvPr id="8" name="Text 6"/>
          <p:cNvSpPr/>
          <p:nvPr/>
        </p:nvSpPr>
        <p:spPr>
          <a:xfrm>
            <a:off x="4427923" y="2654498"/>
            <a:ext cx="3335750" cy="81141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D5D5D5"/>
                </a:solidFill>
                <a:latin typeface="Exo" pitchFamily="34" charset="0"/>
                <a:ea typeface="Exo" pitchFamily="34" charset="-122"/>
                <a:cs typeface="Exo" pitchFamily="34" charset="-120"/>
              </a:rPr>
              <a:t>Local clients still need a safe, structured way to exchange messages.</a:t>
            </a:r>
            <a:endParaRPr lang="en-US" sz="1500" dirty="0"/>
          </a:p>
        </p:txBody>
      </p:sp>
      <p:sp>
        <p:nvSpPr>
          <p:cNvPr id="9" name="Text 7"/>
          <p:cNvSpPr/>
          <p:nvPr/>
        </p:nvSpPr>
        <p:spPr>
          <a:xfrm>
            <a:off x="8119264" y="2194465"/>
            <a:ext cx="3513645" cy="318492"/>
          </a:xfrm>
          <a:prstGeom prst="rect">
            <a:avLst/>
          </a:prstGeom>
          <a:noFill/>
          <a:ln/>
        </p:spPr>
        <p:txBody>
          <a:bodyPr wrap="none" lIns="0" tIns="0" rIns="0" bIns="0" rtlCol="0" anchor="t"/>
          <a:lstStyle/>
          <a:p>
            <a:pPr marL="0" indent="0" algn="l">
              <a:lnSpc>
                <a:spcPct val="110000"/>
              </a:lnSpc>
              <a:buNone/>
            </a:pPr>
            <a:r>
              <a:rPr lang="en-US" sz="1900" dirty="0">
                <a:solidFill>
                  <a:srgbClr val="D5D5D5"/>
                </a:solidFill>
                <a:latin typeface="Exo" pitchFamily="34" charset="0"/>
                <a:ea typeface="Exo" pitchFamily="34" charset="-122"/>
                <a:cs typeface="Exo" pitchFamily="34" charset="-120"/>
              </a:rPr>
              <a:t>One operating system</a:t>
            </a:r>
            <a:endParaRPr lang="en-US" sz="1900" dirty="0"/>
          </a:p>
        </p:txBody>
      </p:sp>
      <p:sp>
        <p:nvSpPr>
          <p:cNvPr id="10" name="Text 8"/>
          <p:cNvSpPr/>
          <p:nvPr/>
        </p:nvSpPr>
        <p:spPr>
          <a:xfrm>
            <a:off x="8119264" y="2654498"/>
            <a:ext cx="3513645" cy="81141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D5D5D5"/>
                </a:solidFill>
                <a:latin typeface="Exo" pitchFamily="34" charset="0"/>
                <a:ea typeface="Exo" pitchFamily="34" charset="-122"/>
                <a:cs typeface="Exo" pitchFamily="34" charset="-120"/>
              </a:rPr>
              <a:t>Relay provides a reliable IPC-based path for multi-process chat on one operating system.</a:t>
            </a:r>
            <a:endParaRPr lang="en-US" sz="1500" dirty="0"/>
          </a:p>
        </p:txBody>
      </p:sp>
      <p:sp>
        <p:nvSpPr>
          <p:cNvPr id="11" name="Shape 9"/>
          <p:cNvSpPr/>
          <p:nvPr/>
        </p:nvSpPr>
        <p:spPr>
          <a:xfrm>
            <a:off x="4243777" y="2193131"/>
            <a:ext cx="12700" cy="4182269"/>
          </a:xfrm>
          <a:prstGeom prst="rect">
            <a:avLst/>
          </a:prstGeom>
          <a:solidFill>
            <a:srgbClr val="3F3F3F"/>
          </a:solidFill>
          <a:ln/>
        </p:spPr>
      </p:sp>
      <p:sp>
        <p:nvSpPr>
          <p:cNvPr id="12" name="Shape 10"/>
          <p:cNvSpPr/>
          <p:nvPr/>
        </p:nvSpPr>
        <p:spPr>
          <a:xfrm>
            <a:off x="7935119" y="2193131"/>
            <a:ext cx="12700" cy="4182269"/>
          </a:xfrm>
          <a:prstGeom prst="rect">
            <a:avLst/>
          </a:prstGeom>
          <a:solidFill>
            <a:srgbClr val="3F3F3F"/>
          </a:solidFill>
          <a:ln/>
        </p:spPr>
      </p:sp>
      <p:sp>
        <p:nvSpPr>
          <p:cNvPr id="13" name="Text 11"/>
          <p:cNvSpPr/>
          <p:nvPr/>
        </p:nvSpPr>
        <p:spPr>
          <a:xfrm>
            <a:off x="11819634" y="6458545"/>
            <a:ext cx="372061"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9D9D9D"/>
                </a:solidFill>
                <a:latin typeface="Fira Mono" pitchFamily="34" charset="0"/>
                <a:ea typeface="Fira Mono" pitchFamily="34" charset="-122"/>
                <a:cs typeface="Fira Mono" pitchFamily="34" charset="-120"/>
              </a:rPr>
              <a:t>02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85783" y="574421"/>
            <a:ext cx="10820129" cy="1195784"/>
          </a:xfrm>
          <a:prstGeom prst="rect">
            <a:avLst/>
          </a:prstGeom>
          <a:noFill/>
          <a:ln/>
        </p:spPr>
        <p:txBody>
          <a:bodyPr wrap="square" lIns="0" tIns="0" rIns="0" bIns="0" rtlCol="0" anchor="t">
            <a:normAutofit lnSpcReduction="10000"/>
          </a:bodyPr>
          <a:lstStyle/>
          <a:p>
            <a:pPr marL="0" indent="0" algn="l">
              <a:lnSpc>
                <a:spcPct val="89000"/>
              </a:lnSpc>
              <a:buNone/>
            </a:pPr>
            <a:r>
              <a:rPr lang="en-US" sz="4400" kern="100" spc="-53" dirty="0">
                <a:solidFill>
                  <a:srgbClr val="ECECEC"/>
                </a:solidFill>
                <a:latin typeface="Exo SemiBold" pitchFamily="34" charset="0"/>
                <a:ea typeface="Exo SemiBold" pitchFamily="34" charset="-122"/>
                <a:cs typeface="Exo SemiBold" pitchFamily="34" charset="-120"/>
              </a:rPr>
              <a:t>Relay turns OS-level IPC into a usable chat system</a:t>
            </a:r>
            <a:endParaRPr lang="en-US" sz="4400" dirty="0"/>
          </a:p>
        </p:txBody>
      </p:sp>
      <p:sp>
        <p:nvSpPr>
          <p:cNvPr id="3" name="Shape 1"/>
          <p:cNvSpPr/>
          <p:nvPr/>
        </p:nvSpPr>
        <p:spPr>
          <a:xfrm>
            <a:off x="685783" y="1972072"/>
            <a:ext cx="2705032" cy="31651"/>
          </a:xfrm>
          <a:prstGeom prst="roundRect">
            <a:avLst>
              <a:gd name="adj" fmla="val 49998"/>
            </a:avLst>
          </a:prstGeom>
          <a:solidFill>
            <a:srgbClr val="9BE1FF"/>
          </a:solidFill>
          <a:ln/>
        </p:spPr>
      </p:sp>
      <p:sp>
        <p:nvSpPr>
          <p:cNvPr id="4" name="Shape 2"/>
          <p:cNvSpPr/>
          <p:nvPr/>
        </p:nvSpPr>
        <p:spPr>
          <a:xfrm>
            <a:off x="685783" y="2227659"/>
            <a:ext cx="5333867" cy="1984970"/>
          </a:xfrm>
          <a:prstGeom prst="roundRect">
            <a:avLst>
              <a:gd name="adj" fmla="val 576"/>
            </a:avLst>
          </a:prstGeom>
          <a:solidFill>
            <a:srgbClr val="284682"/>
          </a:solidFill>
          <a:ln/>
        </p:spPr>
      </p:sp>
      <p:pic>
        <p:nvPicPr>
          <p:cNvPr id="5" name="Image 0" descr="preencoded.png"/>
          <p:cNvPicPr>
            <a:picLocks noChangeAspect="1"/>
          </p:cNvPicPr>
          <p:nvPr/>
        </p:nvPicPr>
        <p:blipFill>
          <a:blip r:embed="rId3"/>
          <a:stretch>
            <a:fillRect/>
          </a:stretch>
        </p:blipFill>
        <p:spPr>
          <a:xfrm>
            <a:off x="914377" y="2456259"/>
            <a:ext cx="380990" cy="381000"/>
          </a:xfrm>
          <a:prstGeom prst="rect">
            <a:avLst/>
          </a:prstGeom>
        </p:spPr>
      </p:pic>
      <p:sp>
        <p:nvSpPr>
          <p:cNvPr id="6" name="Text 3"/>
          <p:cNvSpPr/>
          <p:nvPr/>
        </p:nvSpPr>
        <p:spPr>
          <a:xfrm>
            <a:off x="914377" y="2952893"/>
            <a:ext cx="4876678" cy="318492"/>
          </a:xfrm>
          <a:prstGeom prst="rect">
            <a:avLst/>
          </a:prstGeom>
          <a:noFill/>
          <a:ln/>
        </p:spPr>
        <p:txBody>
          <a:bodyPr wrap="none" lIns="0" tIns="0" rIns="0" bIns="0" rtlCol="0" anchor="t"/>
          <a:lstStyle/>
          <a:p>
            <a:pPr marL="0" indent="0" algn="l">
              <a:lnSpc>
                <a:spcPct val="110000"/>
              </a:lnSpc>
              <a:buNone/>
            </a:pPr>
            <a:r>
              <a:rPr lang="en-US" sz="1900" dirty="0">
                <a:solidFill>
                  <a:srgbClr val="D5D5D5"/>
                </a:solidFill>
                <a:latin typeface="Exo" pitchFamily="34" charset="0"/>
                <a:ea typeface="Exo" pitchFamily="34" charset="-122"/>
                <a:cs typeface="Exo" pitchFamily="34" charset="-120"/>
              </a:rPr>
              <a:t>Two-way messaging</a:t>
            </a:r>
            <a:endParaRPr lang="en-US" sz="1900" dirty="0"/>
          </a:p>
        </p:txBody>
      </p:sp>
      <p:sp>
        <p:nvSpPr>
          <p:cNvPr id="7" name="Text 4"/>
          <p:cNvSpPr/>
          <p:nvPr/>
        </p:nvSpPr>
        <p:spPr>
          <a:xfrm>
            <a:off x="914377" y="3412927"/>
            <a:ext cx="5105272" cy="270470"/>
          </a:xfrm>
          <a:prstGeom prst="rect">
            <a:avLst/>
          </a:prstGeom>
          <a:noFill/>
          <a:ln/>
        </p:spPr>
        <p:txBody>
          <a:bodyPr wrap="none" lIns="0" tIns="0" rIns="0" bIns="0" rtlCol="0" anchor="t"/>
          <a:lstStyle/>
          <a:p>
            <a:pPr marL="0" indent="0" algn="l">
              <a:lnSpc>
                <a:spcPct val="118000"/>
              </a:lnSpc>
              <a:buNone/>
            </a:pPr>
            <a:r>
              <a:rPr lang="en-US" sz="1500" dirty="0">
                <a:solidFill>
                  <a:srgbClr val="D5D5D5"/>
                </a:solidFill>
                <a:latin typeface="Exo" pitchFamily="34" charset="0"/>
                <a:ea typeface="Exo" pitchFamily="34" charset="-122"/>
                <a:cs typeface="Exo" pitchFamily="34" charset="-120"/>
              </a:rPr>
              <a:t>Between independent client processes.</a:t>
            </a:r>
            <a:endParaRPr lang="en-US" sz="1500" dirty="0"/>
          </a:p>
        </p:txBody>
      </p:sp>
      <p:sp>
        <p:nvSpPr>
          <p:cNvPr id="8" name="Shape 5"/>
          <p:cNvSpPr/>
          <p:nvPr/>
        </p:nvSpPr>
        <p:spPr>
          <a:xfrm>
            <a:off x="6172046" y="2227659"/>
            <a:ext cx="5333867" cy="1984970"/>
          </a:xfrm>
          <a:prstGeom prst="roundRect">
            <a:avLst>
              <a:gd name="adj" fmla="val 576"/>
            </a:avLst>
          </a:prstGeom>
          <a:solidFill>
            <a:srgbClr val="284682"/>
          </a:solidFill>
          <a:ln/>
        </p:spPr>
      </p:sp>
      <p:pic>
        <p:nvPicPr>
          <p:cNvPr id="9" name="Image 1" descr="preencoded.png"/>
          <p:cNvPicPr>
            <a:picLocks noChangeAspect="1"/>
          </p:cNvPicPr>
          <p:nvPr/>
        </p:nvPicPr>
        <p:blipFill>
          <a:blip r:embed="rId4"/>
          <a:stretch>
            <a:fillRect/>
          </a:stretch>
        </p:blipFill>
        <p:spPr>
          <a:xfrm>
            <a:off x="6400640" y="2456259"/>
            <a:ext cx="380990" cy="381000"/>
          </a:xfrm>
          <a:prstGeom prst="rect">
            <a:avLst/>
          </a:prstGeom>
        </p:spPr>
      </p:pic>
      <p:sp>
        <p:nvSpPr>
          <p:cNvPr id="10" name="Text 6"/>
          <p:cNvSpPr/>
          <p:nvPr/>
        </p:nvSpPr>
        <p:spPr>
          <a:xfrm>
            <a:off x="6400640" y="2952893"/>
            <a:ext cx="4876678" cy="318492"/>
          </a:xfrm>
          <a:prstGeom prst="rect">
            <a:avLst/>
          </a:prstGeom>
          <a:noFill/>
          <a:ln/>
        </p:spPr>
        <p:txBody>
          <a:bodyPr wrap="none" lIns="0" tIns="0" rIns="0" bIns="0" rtlCol="0" anchor="t"/>
          <a:lstStyle/>
          <a:p>
            <a:pPr marL="0" indent="0" algn="l">
              <a:lnSpc>
                <a:spcPct val="110000"/>
              </a:lnSpc>
              <a:buNone/>
            </a:pPr>
            <a:r>
              <a:rPr lang="en-US" sz="1900" dirty="0">
                <a:solidFill>
                  <a:srgbClr val="D5D5D5"/>
                </a:solidFill>
                <a:latin typeface="Exo" pitchFamily="34" charset="0"/>
                <a:ea typeface="Exo" pitchFamily="34" charset="-122"/>
                <a:cs typeface="Exo" pitchFamily="34" charset="-120"/>
              </a:rPr>
              <a:t>Broker server</a:t>
            </a:r>
            <a:endParaRPr lang="en-US" sz="1900" dirty="0"/>
          </a:p>
        </p:txBody>
      </p:sp>
      <p:sp>
        <p:nvSpPr>
          <p:cNvPr id="11" name="Text 7"/>
          <p:cNvSpPr/>
          <p:nvPr/>
        </p:nvSpPr>
        <p:spPr>
          <a:xfrm>
            <a:off x="6400640" y="3412927"/>
            <a:ext cx="5105272" cy="270470"/>
          </a:xfrm>
          <a:prstGeom prst="rect">
            <a:avLst/>
          </a:prstGeom>
          <a:noFill/>
          <a:ln/>
        </p:spPr>
        <p:txBody>
          <a:bodyPr wrap="none" lIns="0" tIns="0" rIns="0" bIns="0" rtlCol="0" anchor="t"/>
          <a:lstStyle/>
          <a:p>
            <a:pPr marL="0" indent="0" algn="l">
              <a:lnSpc>
                <a:spcPct val="118000"/>
              </a:lnSpc>
              <a:buNone/>
            </a:pPr>
            <a:r>
              <a:rPr lang="en-US" sz="1500" dirty="0">
                <a:solidFill>
                  <a:srgbClr val="D5D5D5"/>
                </a:solidFill>
                <a:latin typeface="Exo" pitchFamily="34" charset="0"/>
                <a:ea typeface="Exo" pitchFamily="34" charset="-122"/>
                <a:cs typeface="Exo" pitchFamily="34" charset="-120"/>
              </a:rPr>
              <a:t>Manages routing for multiple clients.</a:t>
            </a:r>
            <a:endParaRPr lang="en-US" sz="1500" dirty="0"/>
          </a:p>
        </p:txBody>
      </p:sp>
      <p:sp>
        <p:nvSpPr>
          <p:cNvPr id="12" name="Shape 8"/>
          <p:cNvSpPr/>
          <p:nvPr/>
        </p:nvSpPr>
        <p:spPr>
          <a:xfrm>
            <a:off x="685783" y="4365030"/>
            <a:ext cx="5333867" cy="1984970"/>
          </a:xfrm>
          <a:prstGeom prst="roundRect">
            <a:avLst>
              <a:gd name="adj" fmla="val 576"/>
            </a:avLst>
          </a:prstGeom>
          <a:solidFill>
            <a:srgbClr val="284682"/>
          </a:solidFill>
          <a:ln/>
        </p:spPr>
      </p:sp>
      <p:pic>
        <p:nvPicPr>
          <p:cNvPr id="13" name="Image 2" descr="preencoded.png"/>
          <p:cNvPicPr>
            <a:picLocks noChangeAspect="1"/>
          </p:cNvPicPr>
          <p:nvPr/>
        </p:nvPicPr>
        <p:blipFill>
          <a:blip r:embed="rId5"/>
          <a:stretch>
            <a:fillRect/>
          </a:stretch>
        </p:blipFill>
        <p:spPr>
          <a:xfrm>
            <a:off x="914377" y="4593630"/>
            <a:ext cx="380990" cy="381000"/>
          </a:xfrm>
          <a:prstGeom prst="rect">
            <a:avLst/>
          </a:prstGeom>
        </p:spPr>
      </p:pic>
      <p:sp>
        <p:nvSpPr>
          <p:cNvPr id="14" name="Text 9"/>
          <p:cNvSpPr/>
          <p:nvPr/>
        </p:nvSpPr>
        <p:spPr>
          <a:xfrm>
            <a:off x="914377" y="5090263"/>
            <a:ext cx="4876678" cy="318492"/>
          </a:xfrm>
          <a:prstGeom prst="rect">
            <a:avLst/>
          </a:prstGeom>
          <a:noFill/>
          <a:ln/>
        </p:spPr>
        <p:txBody>
          <a:bodyPr wrap="none" lIns="0" tIns="0" rIns="0" bIns="0" rtlCol="0" anchor="t"/>
          <a:lstStyle/>
          <a:p>
            <a:pPr marL="0" indent="0" algn="l">
              <a:lnSpc>
                <a:spcPct val="110000"/>
              </a:lnSpc>
              <a:buNone/>
            </a:pPr>
            <a:r>
              <a:rPr lang="en-US" sz="1900" dirty="0">
                <a:solidFill>
                  <a:srgbClr val="D5D5D5"/>
                </a:solidFill>
                <a:latin typeface="Exo" pitchFamily="34" charset="0"/>
                <a:ea typeface="Exo" pitchFamily="34" charset="-122"/>
                <a:cs typeface="Exo" pitchFamily="34" charset="-120"/>
              </a:rPr>
              <a:t>Chat state</a:t>
            </a:r>
            <a:endParaRPr lang="en-US" sz="1900" dirty="0"/>
          </a:p>
        </p:txBody>
      </p:sp>
      <p:sp>
        <p:nvSpPr>
          <p:cNvPr id="15" name="Text 10"/>
          <p:cNvSpPr/>
          <p:nvPr/>
        </p:nvSpPr>
        <p:spPr>
          <a:xfrm>
            <a:off x="914377" y="5550297"/>
            <a:ext cx="4876678"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D5D5D5"/>
                </a:solidFill>
                <a:latin typeface="Exo" pitchFamily="34" charset="0"/>
                <a:ea typeface="Exo" pitchFamily="34" charset="-122"/>
                <a:cs typeface="Exo" pitchFamily="34" charset="-120"/>
              </a:rPr>
              <a:t>Rooms, private messages, presence, and acknowledgements.</a:t>
            </a:r>
            <a:endParaRPr lang="en-US" sz="1500" dirty="0"/>
          </a:p>
        </p:txBody>
      </p:sp>
      <p:sp>
        <p:nvSpPr>
          <p:cNvPr id="16" name="Shape 11"/>
          <p:cNvSpPr/>
          <p:nvPr/>
        </p:nvSpPr>
        <p:spPr>
          <a:xfrm>
            <a:off x="6172046" y="4365030"/>
            <a:ext cx="5333867" cy="1984970"/>
          </a:xfrm>
          <a:prstGeom prst="roundRect">
            <a:avLst>
              <a:gd name="adj" fmla="val 576"/>
            </a:avLst>
          </a:prstGeom>
          <a:solidFill>
            <a:srgbClr val="284682"/>
          </a:solidFill>
          <a:ln/>
        </p:spPr>
      </p:sp>
      <p:pic>
        <p:nvPicPr>
          <p:cNvPr id="17" name="Image 3" descr="preencoded.png"/>
          <p:cNvPicPr>
            <a:picLocks noChangeAspect="1"/>
          </p:cNvPicPr>
          <p:nvPr/>
        </p:nvPicPr>
        <p:blipFill>
          <a:blip r:embed="rId6"/>
          <a:stretch>
            <a:fillRect/>
          </a:stretch>
        </p:blipFill>
        <p:spPr>
          <a:xfrm>
            <a:off x="6400640" y="4593630"/>
            <a:ext cx="380990" cy="381000"/>
          </a:xfrm>
          <a:prstGeom prst="rect">
            <a:avLst/>
          </a:prstGeom>
        </p:spPr>
      </p:pic>
      <p:sp>
        <p:nvSpPr>
          <p:cNvPr id="18" name="Text 12"/>
          <p:cNvSpPr/>
          <p:nvPr/>
        </p:nvSpPr>
        <p:spPr>
          <a:xfrm>
            <a:off x="6400640" y="5090263"/>
            <a:ext cx="4876678" cy="318492"/>
          </a:xfrm>
          <a:prstGeom prst="rect">
            <a:avLst/>
          </a:prstGeom>
          <a:noFill/>
          <a:ln/>
        </p:spPr>
        <p:txBody>
          <a:bodyPr wrap="none" lIns="0" tIns="0" rIns="0" bIns="0" rtlCol="0" anchor="t"/>
          <a:lstStyle/>
          <a:p>
            <a:pPr marL="0" indent="0" algn="l">
              <a:lnSpc>
                <a:spcPct val="110000"/>
              </a:lnSpc>
              <a:buNone/>
            </a:pPr>
            <a:r>
              <a:rPr lang="en-US" sz="1900" dirty="0">
                <a:solidFill>
                  <a:srgbClr val="D5D5D5"/>
                </a:solidFill>
                <a:latin typeface="Exo" pitchFamily="34" charset="0"/>
                <a:ea typeface="Exo" pitchFamily="34" charset="-122"/>
                <a:cs typeface="Exo" pitchFamily="34" charset="-120"/>
              </a:rPr>
              <a:t>Terminal interface</a:t>
            </a:r>
            <a:endParaRPr lang="en-US" sz="1900" dirty="0"/>
          </a:p>
        </p:txBody>
      </p:sp>
      <p:sp>
        <p:nvSpPr>
          <p:cNvPr id="19" name="Text 13"/>
          <p:cNvSpPr/>
          <p:nvPr/>
        </p:nvSpPr>
        <p:spPr>
          <a:xfrm>
            <a:off x="11819634" y="6458545"/>
            <a:ext cx="372061"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9D9D9D"/>
                </a:solidFill>
                <a:latin typeface="Fira Mono" pitchFamily="34" charset="0"/>
                <a:ea typeface="Fira Mono" pitchFamily="34" charset="-122"/>
                <a:cs typeface="Fira Mono" pitchFamily="34" charset="-120"/>
              </a:rPr>
              <a:t>03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59247"/>
            <a:ext cx="10972526" cy="1195784"/>
          </a:xfrm>
          <a:prstGeom prst="rect">
            <a:avLst/>
          </a:prstGeom>
          <a:noFill/>
          <a:ln/>
        </p:spPr>
        <p:txBody>
          <a:bodyPr wrap="square" lIns="0" tIns="0" rIns="0" bIns="0" rtlCol="0" anchor="t">
            <a:normAutofit lnSpcReduction="10000"/>
          </a:bodyPr>
          <a:lstStyle/>
          <a:p>
            <a:pPr marL="0" indent="0" algn="l">
              <a:lnSpc>
                <a:spcPct val="89000"/>
              </a:lnSpc>
              <a:buNone/>
            </a:pPr>
            <a:r>
              <a:rPr lang="en-US" sz="4400" kern="100" spc="-53" dirty="0">
                <a:solidFill>
                  <a:srgbClr val="ECECEC"/>
                </a:solidFill>
                <a:latin typeface="Exo SemiBold" pitchFamily="34" charset="0"/>
                <a:ea typeface="Exo SemiBold" pitchFamily="34" charset="-122"/>
                <a:cs typeface="Exo SemiBold" pitchFamily="34" charset="-120"/>
              </a:rPr>
              <a:t>One broker routes messages between independent processes</a:t>
            </a:r>
            <a:endParaRPr lang="en-US" sz="4400" dirty="0"/>
          </a:p>
        </p:txBody>
      </p:sp>
      <p:pic>
        <p:nvPicPr>
          <p:cNvPr id="3" name="Image 0" descr="preencoded.png"/>
          <p:cNvPicPr>
            <a:picLocks noChangeAspect="1"/>
          </p:cNvPicPr>
          <p:nvPr/>
        </p:nvPicPr>
        <p:blipFill>
          <a:blip r:embed="rId3"/>
          <a:stretch>
            <a:fillRect/>
          </a:stretch>
        </p:blipFill>
        <p:spPr>
          <a:xfrm>
            <a:off x="609585" y="1983184"/>
            <a:ext cx="7224631" cy="4063901"/>
          </a:xfrm>
          <a:prstGeom prst="rect">
            <a:avLst/>
          </a:prstGeom>
        </p:spPr>
      </p:pic>
      <p:sp>
        <p:nvSpPr>
          <p:cNvPr id="4" name="Text 1"/>
          <p:cNvSpPr/>
          <p:nvPr/>
        </p:nvSpPr>
        <p:spPr>
          <a:xfrm>
            <a:off x="11819634" y="6458545"/>
            <a:ext cx="372061"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9D9D9D"/>
                </a:solidFill>
                <a:latin typeface="Fira Mono" pitchFamily="34" charset="0"/>
                <a:ea typeface="Fira Mono" pitchFamily="34" charset="-122"/>
                <a:cs typeface="Fira Mono" pitchFamily="34" charset="-120"/>
              </a:rPr>
              <a:t>04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1483062"/>
            <a:ext cx="3555911"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B5B5B5"/>
                </a:solidFill>
                <a:latin typeface="Fira Mono Medium" pitchFamily="34" charset="0"/>
                <a:ea typeface="Fira Mono Medium" pitchFamily="34" charset="-122"/>
                <a:cs typeface="Fira Mono Medium" pitchFamily="34" charset="-120"/>
              </a:rPr>
              <a:t>TRANSPORT CHOICE</a:t>
            </a:r>
            <a:endParaRPr lang="en-US" sz="1100" dirty="0"/>
          </a:p>
        </p:txBody>
      </p:sp>
      <p:sp>
        <p:nvSpPr>
          <p:cNvPr id="3" name="Text 1"/>
          <p:cNvSpPr/>
          <p:nvPr/>
        </p:nvSpPr>
        <p:spPr>
          <a:xfrm>
            <a:off x="609585" y="1775281"/>
            <a:ext cx="3555911" cy="1902222"/>
          </a:xfrm>
          <a:prstGeom prst="rect">
            <a:avLst/>
          </a:prstGeom>
          <a:noFill/>
          <a:ln/>
        </p:spPr>
        <p:txBody>
          <a:bodyPr wrap="square" lIns="0" tIns="0" rIns="0" bIns="0" rtlCol="0" anchor="t">
            <a:normAutofit lnSpcReduction="10000"/>
          </a:bodyPr>
          <a:lstStyle/>
          <a:p>
            <a:pPr marL="0" indent="0" algn="l">
              <a:lnSpc>
                <a:spcPct val="89000"/>
              </a:lnSpc>
              <a:buNone/>
            </a:pPr>
            <a:r>
              <a:rPr lang="en-US" sz="3500" kern="100" spc="-42" dirty="0">
                <a:solidFill>
                  <a:srgbClr val="ECECEC"/>
                </a:solidFill>
                <a:latin typeface="Exo SemiBold" pitchFamily="34" charset="0"/>
                <a:ea typeface="Exo SemiBold" pitchFamily="34" charset="-122"/>
                <a:cs typeface="Exo SemiBold" pitchFamily="34" charset="-120"/>
              </a:rPr>
              <a:t>Unix domain sockets fit local process-to-process chat</a:t>
            </a:r>
            <a:endParaRPr lang="en-US" sz="3500" dirty="0"/>
          </a:p>
        </p:txBody>
      </p:sp>
      <p:sp>
        <p:nvSpPr>
          <p:cNvPr id="4" name="Shape 2"/>
          <p:cNvSpPr/>
          <p:nvPr/>
        </p:nvSpPr>
        <p:spPr>
          <a:xfrm>
            <a:off x="609585" y="3886895"/>
            <a:ext cx="888879" cy="31651"/>
          </a:xfrm>
          <a:prstGeom prst="roundRect">
            <a:avLst>
              <a:gd name="adj" fmla="val 49998"/>
            </a:avLst>
          </a:prstGeom>
          <a:solidFill>
            <a:srgbClr val="9BE1FF"/>
          </a:solidFill>
          <a:ln/>
        </p:spPr>
      </p:sp>
      <p:sp>
        <p:nvSpPr>
          <p:cNvPr id="5" name="Text 3"/>
          <p:cNvSpPr/>
          <p:nvPr/>
        </p:nvSpPr>
        <p:spPr>
          <a:xfrm>
            <a:off x="609585" y="4078982"/>
            <a:ext cx="3555911" cy="324545"/>
          </a:xfrm>
          <a:prstGeom prst="rect">
            <a:avLst/>
          </a:prstGeom>
          <a:noFill/>
          <a:ln/>
        </p:spPr>
        <p:txBody>
          <a:bodyPr wrap="none" lIns="0" tIns="0" rIns="0" bIns="0" rtlCol="0" anchor="t"/>
          <a:lstStyle/>
          <a:p>
            <a:pPr marL="0" indent="0" algn="l">
              <a:lnSpc>
                <a:spcPct val="118000"/>
              </a:lnSpc>
              <a:buNone/>
            </a:pPr>
            <a:r>
              <a:rPr lang="en-US" sz="1800" dirty="0">
                <a:solidFill>
                  <a:srgbClr val="D5D5D5"/>
                </a:solidFill>
                <a:latin typeface="Exo" pitchFamily="34" charset="0"/>
                <a:ea typeface="Exo" pitchFamily="34" charset="-122"/>
                <a:cs typeface="Exo" pitchFamily="34" charset="-120"/>
              </a:rPr>
              <a:t>The system stays local by design.</a:t>
            </a:r>
            <a:endParaRPr lang="en-US" sz="1800" dirty="0"/>
          </a:p>
        </p:txBody>
      </p:sp>
      <p:sp>
        <p:nvSpPr>
          <p:cNvPr id="6" name="Text 4"/>
          <p:cNvSpPr/>
          <p:nvPr/>
        </p:nvSpPr>
        <p:spPr>
          <a:xfrm>
            <a:off x="609585" y="4520049"/>
            <a:ext cx="3555911"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B5B5B5"/>
                </a:solidFill>
                <a:latin typeface="Fira Mono Medium" pitchFamily="34" charset="0"/>
                <a:ea typeface="Fira Mono Medium" pitchFamily="34" charset="-122"/>
                <a:cs typeface="Fira Mono Medium" pitchFamily="34" charset="-120"/>
              </a:rPr>
              <a:t>AF_UNIX · SOCK_STREAM</a:t>
            </a:r>
            <a:endParaRPr lang="en-US" sz="1100" dirty="0"/>
          </a:p>
        </p:txBody>
      </p:sp>
      <p:sp>
        <p:nvSpPr>
          <p:cNvPr id="7" name="Shape 5"/>
          <p:cNvSpPr/>
          <p:nvPr/>
        </p:nvSpPr>
        <p:spPr>
          <a:xfrm>
            <a:off x="4470288" y="1480840"/>
            <a:ext cx="3479713" cy="3896320"/>
          </a:xfrm>
          <a:prstGeom prst="roundRect">
            <a:avLst>
              <a:gd name="adj" fmla="val 328"/>
            </a:avLst>
          </a:prstGeom>
          <a:solidFill>
            <a:srgbClr val="0E1F40"/>
          </a:solidFill>
          <a:ln w="25399">
            <a:solidFill>
              <a:srgbClr val="306CE5"/>
            </a:solidFill>
            <a:prstDash val="solid"/>
          </a:ln>
        </p:spPr>
      </p:sp>
      <p:sp>
        <p:nvSpPr>
          <p:cNvPr id="8" name="Shape 6"/>
          <p:cNvSpPr/>
          <p:nvPr/>
        </p:nvSpPr>
        <p:spPr>
          <a:xfrm>
            <a:off x="4724282" y="1734840"/>
            <a:ext cx="1573372" cy="304800"/>
          </a:xfrm>
          <a:prstGeom prst="roundRect">
            <a:avLst>
              <a:gd name="adj" fmla="val 3750"/>
            </a:avLst>
          </a:prstGeom>
          <a:solidFill>
            <a:srgbClr val="00364D"/>
          </a:solidFill>
          <a:ln/>
        </p:spPr>
      </p:sp>
      <p:sp>
        <p:nvSpPr>
          <p:cNvPr id="9" name="Text 7"/>
          <p:cNvSpPr/>
          <p:nvPr/>
        </p:nvSpPr>
        <p:spPr>
          <a:xfrm>
            <a:off x="4838579" y="1815802"/>
            <a:ext cx="1954362" cy="190500"/>
          </a:xfrm>
          <a:prstGeom prst="rect">
            <a:avLst/>
          </a:prstGeom>
          <a:noFill/>
          <a:ln/>
        </p:spPr>
        <p:txBody>
          <a:bodyPr wrap="none" lIns="0" tIns="0" rIns="0" bIns="0" rtlCol="0" anchor="t"/>
          <a:lstStyle/>
          <a:p>
            <a:pPr marL="0" indent="0" algn="l">
              <a:lnSpc>
                <a:spcPct val="104000"/>
              </a:lnSpc>
              <a:buNone/>
            </a:pPr>
            <a:r>
              <a:rPr lang="en-US" sz="1200" kern="100" spc="192" dirty="0">
                <a:solidFill>
                  <a:srgbClr val="D5D5D5"/>
                </a:solidFill>
                <a:latin typeface="Michroma" pitchFamily="34" charset="0"/>
                <a:ea typeface="Michroma" pitchFamily="34" charset="-122"/>
                <a:cs typeface="Michroma" pitchFamily="34" charset="-120"/>
              </a:rPr>
              <a:t>SELECTED</a:t>
            </a:r>
            <a:endParaRPr lang="en-US" sz="1200" dirty="0"/>
          </a:p>
        </p:txBody>
      </p:sp>
      <p:sp>
        <p:nvSpPr>
          <p:cNvPr id="10" name="Text 8"/>
          <p:cNvSpPr/>
          <p:nvPr/>
        </p:nvSpPr>
        <p:spPr>
          <a:xfrm>
            <a:off x="4724282" y="2119015"/>
            <a:ext cx="2971726" cy="419100"/>
          </a:xfrm>
          <a:prstGeom prst="rect">
            <a:avLst/>
          </a:prstGeom>
          <a:noFill/>
          <a:ln/>
        </p:spPr>
        <p:txBody>
          <a:bodyPr wrap="none" lIns="0" tIns="0" rIns="0" bIns="0" rtlCol="0" anchor="t"/>
          <a:lstStyle/>
          <a:p>
            <a:pPr marL="0" indent="0" algn="l">
              <a:lnSpc>
                <a:spcPct val="110000"/>
              </a:lnSpc>
              <a:buNone/>
            </a:pPr>
            <a:r>
              <a:rPr lang="en-US" sz="2500" dirty="0">
                <a:solidFill>
                  <a:srgbClr val="D5D5D5"/>
                </a:solidFill>
                <a:latin typeface="Exo" pitchFamily="34" charset="0"/>
                <a:ea typeface="Exo" pitchFamily="34" charset="-122"/>
                <a:cs typeface="Exo" pitchFamily="34" charset="-120"/>
              </a:rPr>
              <a:t>AF_UNIX</a:t>
            </a:r>
            <a:endParaRPr lang="en-US" sz="2500" dirty="0"/>
          </a:p>
        </p:txBody>
      </p:sp>
      <p:sp>
        <p:nvSpPr>
          <p:cNvPr id="11" name="Text 9"/>
          <p:cNvSpPr/>
          <p:nvPr/>
        </p:nvSpPr>
        <p:spPr>
          <a:xfrm>
            <a:off x="4724282" y="2680990"/>
            <a:ext cx="2971726"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D5D5D5"/>
                </a:solidFill>
                <a:latin typeface="Exo" pitchFamily="34" charset="0"/>
                <a:ea typeface="Exo" pitchFamily="34" charset="-122"/>
                <a:cs typeface="Exo" pitchFamily="34" charset="-120"/>
              </a:rPr>
              <a:t>Address processes through the local operating system.</a:t>
            </a:r>
            <a:endParaRPr lang="en-US" sz="1500" dirty="0"/>
          </a:p>
        </p:txBody>
      </p:sp>
      <p:sp>
        <p:nvSpPr>
          <p:cNvPr id="12" name="Shape 10"/>
          <p:cNvSpPr/>
          <p:nvPr/>
        </p:nvSpPr>
        <p:spPr>
          <a:xfrm>
            <a:off x="4724282" y="3382268"/>
            <a:ext cx="742931" cy="31651"/>
          </a:xfrm>
          <a:prstGeom prst="roundRect">
            <a:avLst>
              <a:gd name="adj" fmla="val 49998"/>
            </a:avLst>
          </a:prstGeom>
          <a:solidFill>
            <a:srgbClr val="9BE1FF"/>
          </a:solidFill>
          <a:ln/>
        </p:spPr>
      </p:sp>
      <p:sp>
        <p:nvSpPr>
          <p:cNvPr id="13" name="Text 11"/>
          <p:cNvSpPr/>
          <p:nvPr/>
        </p:nvSpPr>
        <p:spPr>
          <a:xfrm>
            <a:off x="4724282" y="3639189"/>
            <a:ext cx="2971726" cy="318492"/>
          </a:xfrm>
          <a:prstGeom prst="rect">
            <a:avLst/>
          </a:prstGeom>
          <a:noFill/>
          <a:ln/>
        </p:spPr>
        <p:txBody>
          <a:bodyPr wrap="none" lIns="0" tIns="0" rIns="0" bIns="0" rtlCol="0" anchor="t"/>
          <a:lstStyle/>
          <a:p>
            <a:pPr marL="0" indent="0" algn="l">
              <a:lnSpc>
                <a:spcPct val="110000"/>
              </a:lnSpc>
              <a:buNone/>
            </a:pPr>
            <a:r>
              <a:rPr lang="en-US" sz="1900" dirty="0">
                <a:solidFill>
                  <a:srgbClr val="D5D5D5"/>
                </a:solidFill>
                <a:latin typeface="Exo" pitchFamily="34" charset="0"/>
                <a:ea typeface="Exo" pitchFamily="34" charset="-122"/>
                <a:cs typeface="Exo" pitchFamily="34" charset="-120"/>
              </a:rPr>
              <a:t>SOCK_STREAM</a:t>
            </a:r>
            <a:endParaRPr lang="en-US" sz="1900" dirty="0"/>
          </a:p>
        </p:txBody>
      </p:sp>
      <p:sp>
        <p:nvSpPr>
          <p:cNvPr id="14" name="Text 12"/>
          <p:cNvSpPr/>
          <p:nvPr/>
        </p:nvSpPr>
        <p:spPr>
          <a:xfrm>
            <a:off x="4724282" y="4099223"/>
            <a:ext cx="2971726"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D5D5D5"/>
                </a:solidFill>
                <a:latin typeface="Exo" pitchFamily="34" charset="0"/>
                <a:ea typeface="Exo" pitchFamily="34" charset="-122"/>
                <a:cs typeface="Exo" pitchFamily="34" charset="-120"/>
              </a:rPr>
              <a:t>Reliable byte-stream communication.</a:t>
            </a:r>
            <a:endParaRPr lang="en-US" sz="1500" dirty="0"/>
          </a:p>
        </p:txBody>
      </p:sp>
      <p:sp>
        <p:nvSpPr>
          <p:cNvPr id="15" name="Text 13"/>
          <p:cNvSpPr/>
          <p:nvPr/>
        </p:nvSpPr>
        <p:spPr>
          <a:xfrm>
            <a:off x="4724282" y="4755987"/>
            <a:ext cx="2971726" cy="368697"/>
          </a:xfrm>
          <a:prstGeom prst="rect">
            <a:avLst/>
          </a:prstGeom>
          <a:noFill/>
          <a:ln/>
        </p:spPr>
        <p:txBody>
          <a:bodyPr wrap="square" lIns="0" tIns="0" rIns="0" bIns="0" rtlCol="0" anchor="t">
            <a:normAutofit/>
          </a:bodyPr>
          <a:lstStyle/>
          <a:p>
            <a:pPr marL="0" indent="0" algn="l">
              <a:lnSpc>
                <a:spcPct val="110000"/>
              </a:lnSpc>
              <a:buNone/>
            </a:pPr>
            <a:r>
              <a:rPr lang="en-US" sz="1100" kern="100" spc="11" dirty="0">
                <a:solidFill>
                  <a:srgbClr val="D5D5D5"/>
                </a:solidFill>
                <a:latin typeface="Exo" pitchFamily="34" charset="0"/>
                <a:ea typeface="Exo" pitchFamily="34" charset="-122"/>
                <a:cs typeface="Exo" pitchFamily="34" charset="-120"/>
              </a:rPr>
              <a:t>Low overhead · no network exposure · local-only communication</a:t>
            </a:r>
            <a:endParaRPr lang="en-US" sz="1100" dirty="0"/>
          </a:p>
        </p:txBody>
      </p:sp>
      <p:sp>
        <p:nvSpPr>
          <p:cNvPr id="16" name="Shape 14"/>
          <p:cNvSpPr/>
          <p:nvPr/>
        </p:nvSpPr>
        <p:spPr>
          <a:xfrm>
            <a:off x="8102397" y="1480840"/>
            <a:ext cx="3479713" cy="3896320"/>
          </a:xfrm>
          <a:prstGeom prst="roundRect">
            <a:avLst>
              <a:gd name="adj" fmla="val 328"/>
            </a:avLst>
          </a:prstGeom>
          <a:noFill/>
          <a:ln w="25399">
            <a:solidFill>
              <a:srgbClr val="306CE5"/>
            </a:solidFill>
            <a:prstDash val="solid"/>
          </a:ln>
        </p:spPr>
      </p:sp>
      <p:sp>
        <p:nvSpPr>
          <p:cNvPr id="17" name="Shape 15"/>
          <p:cNvSpPr/>
          <p:nvPr/>
        </p:nvSpPr>
        <p:spPr>
          <a:xfrm>
            <a:off x="8356391" y="1734840"/>
            <a:ext cx="1992957" cy="304800"/>
          </a:xfrm>
          <a:prstGeom prst="roundRect">
            <a:avLst>
              <a:gd name="adj" fmla="val 3750"/>
            </a:avLst>
          </a:prstGeom>
          <a:noFill/>
          <a:ln w="6350">
            <a:solidFill>
              <a:srgbClr val="DADADA"/>
            </a:solidFill>
            <a:prstDash val="solid"/>
          </a:ln>
        </p:spPr>
      </p:sp>
      <p:sp>
        <p:nvSpPr>
          <p:cNvPr id="18" name="Text 16"/>
          <p:cNvSpPr/>
          <p:nvPr/>
        </p:nvSpPr>
        <p:spPr>
          <a:xfrm>
            <a:off x="8470688" y="1815802"/>
            <a:ext cx="2373948" cy="190500"/>
          </a:xfrm>
          <a:prstGeom prst="rect">
            <a:avLst/>
          </a:prstGeom>
          <a:noFill/>
          <a:ln/>
        </p:spPr>
        <p:txBody>
          <a:bodyPr wrap="none" lIns="0" tIns="0" rIns="0" bIns="0" rtlCol="0" anchor="t"/>
          <a:lstStyle/>
          <a:p>
            <a:pPr marL="0" indent="0" algn="l">
              <a:lnSpc>
                <a:spcPct val="104000"/>
              </a:lnSpc>
              <a:buNone/>
            </a:pPr>
            <a:r>
              <a:rPr lang="en-US" sz="1200" kern="100" spc="192" dirty="0">
                <a:solidFill>
                  <a:srgbClr val="DADADA"/>
                </a:solidFill>
                <a:latin typeface="Michroma" pitchFamily="34" charset="0"/>
                <a:ea typeface="Michroma" pitchFamily="34" charset="-122"/>
                <a:cs typeface="Michroma" pitchFamily="34" charset="-120"/>
              </a:rPr>
              <a:t>ALTERNATIVE</a:t>
            </a:r>
            <a:endParaRPr lang="en-US" sz="1200" dirty="0"/>
          </a:p>
        </p:txBody>
      </p:sp>
      <p:sp>
        <p:nvSpPr>
          <p:cNvPr id="19" name="Text 17"/>
          <p:cNvSpPr/>
          <p:nvPr/>
        </p:nvSpPr>
        <p:spPr>
          <a:xfrm>
            <a:off x="8356391" y="2119015"/>
            <a:ext cx="2971726" cy="419100"/>
          </a:xfrm>
          <a:prstGeom prst="rect">
            <a:avLst/>
          </a:prstGeom>
          <a:noFill/>
          <a:ln/>
        </p:spPr>
        <p:txBody>
          <a:bodyPr wrap="none" lIns="0" tIns="0" rIns="0" bIns="0" rtlCol="0" anchor="t"/>
          <a:lstStyle/>
          <a:p>
            <a:pPr marL="0" indent="0" algn="l">
              <a:lnSpc>
                <a:spcPct val="110000"/>
              </a:lnSpc>
              <a:buNone/>
            </a:pPr>
            <a:r>
              <a:rPr lang="en-US" sz="2500" dirty="0">
                <a:solidFill>
                  <a:srgbClr val="D5D5D5"/>
                </a:solidFill>
                <a:latin typeface="Exo" pitchFamily="34" charset="0"/>
                <a:ea typeface="Exo" pitchFamily="34" charset="-122"/>
                <a:cs typeface="Exo" pitchFamily="34" charset="-120"/>
              </a:rPr>
              <a:t>TCP</a:t>
            </a:r>
            <a:endParaRPr lang="en-US" sz="2500" dirty="0"/>
          </a:p>
        </p:txBody>
      </p:sp>
      <p:sp>
        <p:nvSpPr>
          <p:cNvPr id="20" name="Text 18"/>
          <p:cNvSpPr/>
          <p:nvPr/>
        </p:nvSpPr>
        <p:spPr>
          <a:xfrm>
            <a:off x="8356391" y="2680990"/>
            <a:ext cx="2971726"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D5D5D5"/>
                </a:solidFill>
                <a:latin typeface="Exo" pitchFamily="34" charset="0"/>
                <a:ea typeface="Exo" pitchFamily="34" charset="-122"/>
                <a:cs typeface="Exo" pitchFamily="34" charset="-120"/>
              </a:rPr>
              <a:t>Network-oriented communication.</a:t>
            </a:r>
            <a:endParaRPr lang="en-US" sz="1500" dirty="0"/>
          </a:p>
        </p:txBody>
      </p:sp>
      <p:sp>
        <p:nvSpPr>
          <p:cNvPr id="21" name="Shape 19"/>
          <p:cNvSpPr/>
          <p:nvPr/>
        </p:nvSpPr>
        <p:spPr>
          <a:xfrm>
            <a:off x="8356391" y="3382268"/>
            <a:ext cx="742931" cy="31651"/>
          </a:xfrm>
          <a:prstGeom prst="roundRect">
            <a:avLst>
              <a:gd name="adj" fmla="val 49998"/>
            </a:avLst>
          </a:prstGeom>
          <a:solidFill>
            <a:srgbClr val="3F3F3F"/>
          </a:solidFill>
          <a:ln/>
        </p:spPr>
      </p:sp>
      <p:sp>
        <p:nvSpPr>
          <p:cNvPr id="22" name="Text 20"/>
          <p:cNvSpPr/>
          <p:nvPr/>
        </p:nvSpPr>
        <p:spPr>
          <a:xfrm>
            <a:off x="8356391" y="3574355"/>
            <a:ext cx="2971726" cy="108188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D5D5D5"/>
                </a:solidFill>
                <a:latin typeface="Exo" pitchFamily="34" charset="0"/>
                <a:ea typeface="Exo" pitchFamily="34" charset="-122"/>
                <a:cs typeface="Exo" pitchFamily="34" charset="-120"/>
              </a:rPr>
              <a:t>Useful when communication must cross a network boundary, but broader than this local IPC use case.</a:t>
            </a:r>
            <a:endParaRPr lang="en-US" sz="1500" dirty="0"/>
          </a:p>
        </p:txBody>
      </p:sp>
      <p:sp>
        <p:nvSpPr>
          <p:cNvPr id="23" name="Text 21"/>
          <p:cNvSpPr/>
          <p:nvPr/>
        </p:nvSpPr>
        <p:spPr>
          <a:xfrm>
            <a:off x="11819634" y="6458545"/>
            <a:ext cx="372061"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9D9D9D"/>
                </a:solidFill>
                <a:latin typeface="Fira Mono" pitchFamily="34" charset="0"/>
                <a:ea typeface="Fira Mono" pitchFamily="34" charset="-122"/>
                <a:cs typeface="Fira Mono" pitchFamily="34" charset="-120"/>
              </a:rPr>
              <a:t>05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43096"/>
            <a:ext cx="10972526" cy="475555"/>
          </a:xfrm>
          <a:prstGeom prst="rect">
            <a:avLst/>
          </a:prstGeom>
          <a:noFill/>
          <a:ln/>
        </p:spPr>
        <p:txBody>
          <a:bodyPr wrap="none" lIns="0" tIns="0" rIns="0" bIns="0" rtlCol="0" anchor="t"/>
          <a:lstStyle/>
          <a:p>
            <a:pPr marL="0" indent="0" algn="l">
              <a:lnSpc>
                <a:spcPct val="89000"/>
              </a:lnSpc>
              <a:buNone/>
            </a:pPr>
            <a:r>
              <a:rPr lang="en-US" sz="3500" kern="100" spc="-42" dirty="0">
                <a:solidFill>
                  <a:srgbClr val="ECECEC"/>
                </a:solidFill>
                <a:latin typeface="Exo SemiBold" pitchFamily="34" charset="0"/>
                <a:ea typeface="Exo SemiBold" pitchFamily="34" charset="-122"/>
                <a:cs typeface="Exo SemiBold" pitchFamily="34" charset="-120"/>
              </a:rPr>
              <a:t>A small JSON frame keeps every message explicit</a:t>
            </a:r>
            <a:endParaRPr lang="en-US" sz="3500" dirty="0"/>
          </a:p>
        </p:txBody>
      </p:sp>
      <p:sp>
        <p:nvSpPr>
          <p:cNvPr id="3" name="Shape 1"/>
          <p:cNvSpPr/>
          <p:nvPr/>
        </p:nvSpPr>
        <p:spPr>
          <a:xfrm>
            <a:off x="0" y="3581400"/>
            <a:ext cx="5943451" cy="3276600"/>
          </a:xfrm>
          <a:prstGeom prst="rect">
            <a:avLst/>
          </a:prstGeom>
          <a:solidFill>
            <a:srgbClr val="0E1F40"/>
          </a:solidFill>
          <a:ln/>
        </p:spPr>
      </p:sp>
      <p:sp>
        <p:nvSpPr>
          <p:cNvPr id="4" name="Text 2"/>
          <p:cNvSpPr/>
          <p:nvPr/>
        </p:nvSpPr>
        <p:spPr>
          <a:xfrm>
            <a:off x="304792" y="3888422"/>
            <a:ext cx="5638659"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D5D5D5"/>
                </a:solidFill>
                <a:latin typeface="Fira Mono Medium" pitchFamily="34" charset="0"/>
                <a:ea typeface="Fira Mono Medium" pitchFamily="34" charset="-122"/>
                <a:cs typeface="Fira Mono Medium" pitchFamily="34" charset="-120"/>
              </a:rPr>
              <a:t>EXAMPLE MESSAGE</a:t>
            </a:r>
            <a:endParaRPr lang="en-US" sz="1100" dirty="0"/>
          </a:p>
        </p:txBody>
      </p:sp>
      <p:sp>
        <p:nvSpPr>
          <p:cNvPr id="5" name="Shape 3"/>
          <p:cNvSpPr/>
          <p:nvPr/>
        </p:nvSpPr>
        <p:spPr>
          <a:xfrm>
            <a:off x="304792" y="4282083"/>
            <a:ext cx="5333867" cy="1905000"/>
          </a:xfrm>
          <a:prstGeom prst="roundRect">
            <a:avLst>
              <a:gd name="adj" fmla="val 600"/>
            </a:avLst>
          </a:prstGeom>
          <a:solidFill>
            <a:srgbClr val="0E1F40"/>
          </a:solidFill>
          <a:ln/>
        </p:spPr>
      </p:sp>
      <p:sp>
        <p:nvSpPr>
          <p:cNvPr id="6" name="Text 4"/>
          <p:cNvSpPr/>
          <p:nvPr/>
        </p:nvSpPr>
        <p:spPr>
          <a:xfrm>
            <a:off x="533387" y="4472583"/>
            <a:ext cx="4876678" cy="1524000"/>
          </a:xfrm>
          <a:prstGeom prst="rect">
            <a:avLst/>
          </a:prstGeom>
          <a:noFill/>
          <a:ln/>
        </p:spPr>
        <p:txBody>
          <a:bodyPr wrap="square" lIns="0" tIns="0" rIns="0" bIns="0" rtlCol="0" anchor="t">
            <a:normAutofit/>
          </a:bodyPr>
          <a:lstStyle/>
          <a:p>
            <a:pPr marL="0" indent="0" algn="l">
              <a:lnSpc>
                <a:spcPct val="133000"/>
              </a:lnSpc>
              <a:buNone/>
            </a:pPr>
            <a:r>
              <a:rPr lang="en-US" sz="1500" dirty="0">
                <a:solidFill>
                  <a:srgbClr val="E6EDF3"/>
                </a:solidFill>
                <a:latin typeface="Consolas" pitchFamily="34" charset="0"/>
                <a:ea typeface="Consolas" pitchFamily="34" charset="-122"/>
                <a:cs typeface="Consolas" pitchFamily="34" charset="-120"/>
              </a:rPr>
              <a:t>{</a:t>
            </a:r>
            <a:endParaRPr lang="en-US" sz="1500" dirty="0"/>
          </a:p>
          <a:p>
            <a:pPr marL="0" indent="0" algn="l">
              <a:lnSpc>
                <a:spcPct val="133000"/>
              </a:lnSpc>
              <a:buNone/>
            </a:pPr>
            <a:r>
              <a:rPr lang="en-US" sz="1500" dirty="0">
                <a:solidFill>
                  <a:srgbClr val="E6EDF3"/>
                </a:solidFill>
                <a:latin typeface="Consolas" pitchFamily="34" charset="0"/>
                <a:ea typeface="Consolas" pitchFamily="34" charset="-122"/>
                <a:cs typeface="Consolas" pitchFamily="34" charset="-120"/>
              </a:rPr>
              <a:t>  "type": "send",</a:t>
            </a:r>
            <a:endParaRPr lang="en-US" sz="1500" dirty="0"/>
          </a:p>
          <a:p>
            <a:pPr marL="0" indent="0" algn="l">
              <a:lnSpc>
                <a:spcPct val="133000"/>
              </a:lnSpc>
              <a:buNone/>
            </a:pPr>
            <a:r>
              <a:rPr lang="en-US" sz="1500" dirty="0">
                <a:solidFill>
                  <a:srgbClr val="E6EDF3"/>
                </a:solidFill>
                <a:latin typeface="Consolas" pitchFamily="34" charset="0"/>
                <a:ea typeface="Consolas" pitchFamily="34" charset="-122"/>
                <a:cs typeface="Consolas" pitchFamily="34" charset="-120"/>
              </a:rPr>
              <a:t>  "room": "general",</a:t>
            </a:r>
            <a:endParaRPr lang="en-US" sz="1500" dirty="0"/>
          </a:p>
          <a:p>
            <a:pPr marL="0" indent="0" algn="l">
              <a:lnSpc>
                <a:spcPct val="133000"/>
              </a:lnSpc>
              <a:buNone/>
            </a:pPr>
            <a:r>
              <a:rPr lang="en-US" sz="1500" dirty="0">
                <a:solidFill>
                  <a:srgbClr val="E6EDF3"/>
                </a:solidFill>
                <a:latin typeface="Consolas" pitchFamily="34" charset="0"/>
                <a:ea typeface="Consolas" pitchFamily="34" charset="-122"/>
                <a:cs typeface="Consolas" pitchFamily="34" charset="-120"/>
              </a:rPr>
              <a:t>  "text": "Hello from another process"</a:t>
            </a:r>
            <a:endParaRPr lang="en-US" sz="1500" dirty="0"/>
          </a:p>
          <a:p>
            <a:pPr marL="0" indent="0" algn="l">
              <a:lnSpc>
                <a:spcPct val="133000"/>
              </a:lnSpc>
              <a:buNone/>
            </a:pPr>
            <a:r>
              <a:rPr lang="en-US" sz="1500" dirty="0">
                <a:solidFill>
                  <a:srgbClr val="E6EDF3"/>
                </a:solidFill>
                <a:latin typeface="Consolas" pitchFamily="34" charset="0"/>
                <a:ea typeface="Consolas" pitchFamily="34" charset="-122"/>
                <a:cs typeface="Consolas" pitchFamily="34" charset="-120"/>
              </a:rPr>
              <a:t>}</a:t>
            </a:r>
            <a:endParaRPr lang="en-US" sz="1500" dirty="0"/>
          </a:p>
        </p:txBody>
      </p:sp>
      <p:sp>
        <p:nvSpPr>
          <p:cNvPr id="7" name="Text 5"/>
          <p:cNvSpPr/>
          <p:nvPr/>
        </p:nvSpPr>
        <p:spPr>
          <a:xfrm>
            <a:off x="6553036" y="3888422"/>
            <a:ext cx="5638659"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B5B5B5"/>
                </a:solidFill>
                <a:latin typeface="Fira Mono Medium" pitchFamily="34" charset="0"/>
                <a:ea typeface="Fira Mono Medium" pitchFamily="34" charset="-122"/>
                <a:cs typeface="Fira Mono Medium" pitchFamily="34" charset="-120"/>
              </a:rPr>
              <a:t>SOCKET BOUNDARY</a:t>
            </a:r>
            <a:endParaRPr lang="en-US" sz="1100" dirty="0"/>
          </a:p>
        </p:txBody>
      </p:sp>
      <p:sp>
        <p:nvSpPr>
          <p:cNvPr id="8" name="Text 6"/>
          <p:cNvSpPr/>
          <p:nvPr/>
        </p:nvSpPr>
        <p:spPr>
          <a:xfrm>
            <a:off x="6553036" y="4245570"/>
            <a:ext cx="5333867" cy="1183481"/>
          </a:xfrm>
          <a:prstGeom prst="rect">
            <a:avLst/>
          </a:prstGeom>
          <a:noFill/>
          <a:ln/>
        </p:spPr>
        <p:txBody>
          <a:bodyPr wrap="square" lIns="0" tIns="0" rIns="0" bIns="0" rtlCol="0" anchor="t">
            <a:normAutofit/>
          </a:bodyPr>
          <a:lstStyle/>
          <a:p>
            <a:pPr marL="304800" indent="-304800" algn="l">
              <a:lnSpc>
                <a:spcPct val="118000"/>
              </a:lnSpc>
              <a:buSzPct val="100000"/>
              <a:buChar char="•"/>
            </a:pPr>
            <a:r>
              <a:rPr lang="en-US" sz="1500" dirty="0">
                <a:solidFill>
                  <a:srgbClr val="D5D5D5"/>
                </a:solidFill>
                <a:latin typeface="Exo" pitchFamily="34" charset="0"/>
                <a:ea typeface="Exo" pitchFamily="34" charset="-122"/>
                <a:cs typeface="Exo" pitchFamily="34" charset="-120"/>
              </a:rPr>
              <a:t>Messages are length-delimited or newline-delimited.</a:t>
            </a:r>
            <a:endParaRPr lang="en-US" sz="1500" dirty="0"/>
          </a:p>
          <a:p>
            <a:pPr marL="304800" indent="-304800" algn="l">
              <a:lnSpc>
                <a:spcPct val="118000"/>
              </a:lnSpc>
              <a:buSzPct val="100000"/>
              <a:buChar char="•"/>
            </a:pPr>
            <a:r>
              <a:rPr lang="en-US" sz="1500" dirty="0">
                <a:solidFill>
                  <a:srgbClr val="D5D5D5"/>
                </a:solidFill>
                <a:latin typeface="Exo" pitchFamily="34" charset="0"/>
                <a:ea typeface="Exo" pitchFamily="34" charset="-122"/>
                <a:cs typeface="Exo" pitchFamily="34" charset="-120"/>
              </a:rPr>
              <a:t>Validation covers size and format.</a:t>
            </a:r>
            <a:endParaRPr lang="en-US" sz="1500" dirty="0"/>
          </a:p>
          <a:p>
            <a:pPr marL="304800" indent="-304800" algn="l">
              <a:lnSpc>
                <a:spcPct val="118000"/>
              </a:lnSpc>
              <a:buSzPct val="100000"/>
              <a:buChar char="•"/>
            </a:pPr>
            <a:r>
              <a:rPr lang="en-US" sz="1500" dirty="0">
                <a:solidFill>
                  <a:srgbClr val="D5D5D5"/>
                </a:solidFill>
                <a:latin typeface="Exo" pitchFamily="34" charset="0"/>
                <a:ea typeface="Exo" pitchFamily="34" charset="-122"/>
                <a:cs typeface="Exo" pitchFamily="34" charset="-120"/>
              </a:rPr>
              <a:t>The server handles fragmented and combined socket writes, then returns responses and acknowledgements.</a:t>
            </a:r>
            <a:endParaRPr lang="en-US" sz="1500" dirty="0"/>
          </a:p>
        </p:txBody>
      </p:sp>
      <p:sp>
        <p:nvSpPr>
          <p:cNvPr id="9" name="Text 7"/>
          <p:cNvSpPr/>
          <p:nvPr/>
        </p:nvSpPr>
        <p:spPr>
          <a:xfrm>
            <a:off x="11819634" y="6458545"/>
            <a:ext cx="372061"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9D9D9D"/>
                </a:solidFill>
                <a:latin typeface="Fira Mono" pitchFamily="34" charset="0"/>
                <a:ea typeface="Fira Mono" pitchFamily="34" charset="-122"/>
                <a:cs typeface="Fira Mono" pitchFamily="34" charset="-120"/>
              </a:rPr>
              <a:t>06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50621"/>
            <a:ext cx="10972526" cy="1195784"/>
          </a:xfrm>
          <a:prstGeom prst="rect">
            <a:avLst/>
          </a:prstGeom>
          <a:noFill/>
          <a:ln/>
        </p:spPr>
        <p:txBody>
          <a:bodyPr wrap="square" lIns="0" tIns="0" rIns="0" bIns="0" rtlCol="0" anchor="t">
            <a:normAutofit lnSpcReduction="10000"/>
          </a:bodyPr>
          <a:lstStyle/>
          <a:p>
            <a:pPr marL="0" indent="0" algn="l">
              <a:lnSpc>
                <a:spcPct val="89000"/>
              </a:lnSpc>
              <a:buNone/>
            </a:pPr>
            <a:r>
              <a:rPr lang="en-US" sz="4400" kern="100" spc="-53" dirty="0">
                <a:solidFill>
                  <a:srgbClr val="ECECEC"/>
                </a:solidFill>
                <a:latin typeface="Exo SemiBold" pitchFamily="34" charset="0"/>
                <a:ea typeface="Exo SemiBold" pitchFamily="34" charset="-122"/>
                <a:cs typeface="Exo SemiBold" pitchFamily="34" charset="-120"/>
              </a:rPr>
              <a:t>Features that make Relay feel like a real chat tool</a:t>
            </a:r>
            <a:endParaRPr lang="en-US" sz="4400" dirty="0"/>
          </a:p>
        </p:txBody>
      </p:sp>
      <p:sp>
        <p:nvSpPr>
          <p:cNvPr id="3" name="Shape 1"/>
          <p:cNvSpPr/>
          <p:nvPr/>
        </p:nvSpPr>
        <p:spPr>
          <a:xfrm>
            <a:off x="609585" y="2048272"/>
            <a:ext cx="2743131" cy="31651"/>
          </a:xfrm>
          <a:prstGeom prst="roundRect">
            <a:avLst>
              <a:gd name="adj" fmla="val 49998"/>
            </a:avLst>
          </a:prstGeom>
          <a:solidFill>
            <a:srgbClr val="9BE1FF"/>
          </a:solidFill>
          <a:ln/>
        </p:spPr>
      </p:sp>
      <p:sp>
        <p:nvSpPr>
          <p:cNvPr id="4" name="Shape 2"/>
          <p:cNvSpPr/>
          <p:nvPr/>
        </p:nvSpPr>
        <p:spPr>
          <a:xfrm>
            <a:off x="609585" y="2303859"/>
            <a:ext cx="5410065" cy="2158008"/>
          </a:xfrm>
          <a:prstGeom prst="roundRect">
            <a:avLst>
              <a:gd name="adj" fmla="val 530"/>
            </a:avLst>
          </a:prstGeom>
          <a:solidFill>
            <a:srgbClr val="0E1F40"/>
          </a:solidFill>
          <a:ln/>
        </p:spPr>
      </p:sp>
      <p:sp>
        <p:nvSpPr>
          <p:cNvPr id="5" name="Shape 3"/>
          <p:cNvSpPr/>
          <p:nvPr/>
        </p:nvSpPr>
        <p:spPr>
          <a:xfrm>
            <a:off x="838179" y="2532459"/>
            <a:ext cx="584185" cy="584200"/>
          </a:xfrm>
          <a:prstGeom prst="ellipse">
            <a:avLst/>
          </a:prstGeom>
          <a:solidFill>
            <a:srgbClr val="9BE1FF"/>
          </a:solidFill>
          <a:ln w="6350">
            <a:solidFill>
              <a:srgbClr val="306CE5"/>
            </a:solidFill>
            <a:prstDash val="solid"/>
          </a:ln>
        </p:spPr>
      </p:sp>
      <p:pic>
        <p:nvPicPr>
          <p:cNvPr id="6" name="Image 0" descr="preencoded.png"/>
          <p:cNvPicPr>
            <a:picLocks noChangeAspect="1"/>
          </p:cNvPicPr>
          <p:nvPr/>
        </p:nvPicPr>
        <p:blipFill>
          <a:blip r:embed="rId3"/>
          <a:stretch>
            <a:fillRect/>
          </a:stretch>
        </p:blipFill>
        <p:spPr>
          <a:xfrm>
            <a:off x="987400" y="2681684"/>
            <a:ext cx="285743" cy="285750"/>
          </a:xfrm>
          <a:prstGeom prst="rect">
            <a:avLst/>
          </a:prstGeom>
        </p:spPr>
      </p:pic>
      <p:sp>
        <p:nvSpPr>
          <p:cNvPr id="7" name="Text 4"/>
          <p:cNvSpPr/>
          <p:nvPr/>
        </p:nvSpPr>
        <p:spPr>
          <a:xfrm>
            <a:off x="838179" y="3232293"/>
            <a:ext cx="4952876" cy="318492"/>
          </a:xfrm>
          <a:prstGeom prst="rect">
            <a:avLst/>
          </a:prstGeom>
          <a:noFill/>
          <a:ln/>
        </p:spPr>
        <p:txBody>
          <a:bodyPr wrap="none" lIns="0" tIns="0" rIns="0" bIns="0" rtlCol="0" anchor="t"/>
          <a:lstStyle/>
          <a:p>
            <a:pPr marL="0" indent="0" algn="l">
              <a:lnSpc>
                <a:spcPct val="110000"/>
              </a:lnSpc>
              <a:buNone/>
            </a:pPr>
            <a:r>
              <a:rPr lang="en-US" sz="1900" dirty="0">
                <a:solidFill>
                  <a:srgbClr val="D5D5D5"/>
                </a:solidFill>
                <a:latin typeface="Exo" pitchFamily="34" charset="0"/>
                <a:ea typeface="Exo" pitchFamily="34" charset="-122"/>
                <a:cs typeface="Exo" pitchFamily="34" charset="-120"/>
              </a:rPr>
              <a:t>Messaging</a:t>
            </a:r>
            <a:endParaRPr lang="en-US" sz="1900" dirty="0"/>
          </a:p>
        </p:txBody>
      </p:sp>
      <p:sp>
        <p:nvSpPr>
          <p:cNvPr id="8" name="Text 5"/>
          <p:cNvSpPr/>
          <p:nvPr/>
        </p:nvSpPr>
        <p:spPr>
          <a:xfrm>
            <a:off x="838179" y="3692327"/>
            <a:ext cx="4952876"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D5D5D5"/>
                </a:solidFill>
                <a:latin typeface="Exo" pitchFamily="34" charset="0"/>
                <a:ea typeface="Exo" pitchFamily="34" charset="-122"/>
                <a:cs typeface="Exo" pitchFamily="34" charset="-120"/>
              </a:rPr>
              <a:t>Multiple independent clients and public rooms. Private messages, acknowledgements, and recent room history.</a:t>
            </a:r>
            <a:endParaRPr lang="en-US" sz="1500" dirty="0"/>
          </a:p>
        </p:txBody>
      </p:sp>
      <p:sp>
        <p:nvSpPr>
          <p:cNvPr id="9" name="Shape 6"/>
          <p:cNvSpPr/>
          <p:nvPr/>
        </p:nvSpPr>
        <p:spPr>
          <a:xfrm>
            <a:off x="6172046" y="2303859"/>
            <a:ext cx="5410065" cy="2158008"/>
          </a:xfrm>
          <a:prstGeom prst="roundRect">
            <a:avLst>
              <a:gd name="adj" fmla="val 530"/>
            </a:avLst>
          </a:prstGeom>
          <a:solidFill>
            <a:srgbClr val="284682"/>
          </a:solidFill>
          <a:ln/>
        </p:spPr>
      </p:sp>
      <p:sp>
        <p:nvSpPr>
          <p:cNvPr id="10" name="Shape 7"/>
          <p:cNvSpPr/>
          <p:nvPr/>
        </p:nvSpPr>
        <p:spPr>
          <a:xfrm>
            <a:off x="6400640" y="2532459"/>
            <a:ext cx="584185" cy="584200"/>
          </a:xfrm>
          <a:prstGeom prst="ellipse">
            <a:avLst/>
          </a:prstGeom>
          <a:solidFill>
            <a:srgbClr val="9BE1FF"/>
          </a:solidFill>
          <a:ln w="6350">
            <a:solidFill>
              <a:srgbClr val="306CE5"/>
            </a:solidFill>
            <a:prstDash val="solid"/>
          </a:ln>
        </p:spPr>
      </p:sp>
      <p:pic>
        <p:nvPicPr>
          <p:cNvPr id="11" name="Image 1" descr="preencoded.png"/>
          <p:cNvPicPr>
            <a:picLocks noChangeAspect="1"/>
          </p:cNvPicPr>
          <p:nvPr/>
        </p:nvPicPr>
        <p:blipFill>
          <a:blip r:embed="rId4"/>
          <a:stretch>
            <a:fillRect/>
          </a:stretch>
        </p:blipFill>
        <p:spPr>
          <a:xfrm>
            <a:off x="6549861" y="2681684"/>
            <a:ext cx="285743" cy="285750"/>
          </a:xfrm>
          <a:prstGeom prst="rect">
            <a:avLst/>
          </a:prstGeom>
        </p:spPr>
      </p:pic>
      <p:sp>
        <p:nvSpPr>
          <p:cNvPr id="12" name="Text 8"/>
          <p:cNvSpPr/>
          <p:nvPr/>
        </p:nvSpPr>
        <p:spPr>
          <a:xfrm>
            <a:off x="6400640" y="3232293"/>
            <a:ext cx="4952876" cy="318492"/>
          </a:xfrm>
          <a:prstGeom prst="rect">
            <a:avLst/>
          </a:prstGeom>
          <a:noFill/>
          <a:ln/>
        </p:spPr>
        <p:txBody>
          <a:bodyPr wrap="none" lIns="0" tIns="0" rIns="0" bIns="0" rtlCol="0" anchor="t"/>
          <a:lstStyle/>
          <a:p>
            <a:pPr marL="0" indent="0" algn="l">
              <a:lnSpc>
                <a:spcPct val="110000"/>
              </a:lnSpc>
              <a:buNone/>
            </a:pPr>
            <a:r>
              <a:rPr lang="en-US" sz="1900" dirty="0">
                <a:solidFill>
                  <a:srgbClr val="D5D5D5"/>
                </a:solidFill>
                <a:latin typeface="Exo" pitchFamily="34" charset="0"/>
                <a:ea typeface="Exo" pitchFamily="34" charset="-122"/>
                <a:cs typeface="Exo" pitchFamily="34" charset="-120"/>
              </a:rPr>
              <a:t>Presence</a:t>
            </a:r>
            <a:endParaRPr lang="en-US" sz="1900" dirty="0"/>
          </a:p>
        </p:txBody>
      </p:sp>
      <p:sp>
        <p:nvSpPr>
          <p:cNvPr id="13" name="Text 9"/>
          <p:cNvSpPr/>
          <p:nvPr/>
        </p:nvSpPr>
        <p:spPr>
          <a:xfrm>
            <a:off x="6400640" y="3692327"/>
            <a:ext cx="5181470" cy="276820"/>
          </a:xfrm>
          <a:prstGeom prst="rect">
            <a:avLst/>
          </a:prstGeom>
          <a:noFill/>
          <a:ln/>
        </p:spPr>
        <p:txBody>
          <a:bodyPr wrap="none" lIns="0" tIns="0" rIns="0" bIns="0" rtlCol="0" anchor="t"/>
          <a:lstStyle/>
          <a:p>
            <a:pPr marL="0" indent="0" algn="l">
              <a:lnSpc>
                <a:spcPct val="118000"/>
              </a:lnSpc>
              <a:buNone/>
            </a:pPr>
            <a:r>
              <a:rPr lang="en-US" sz="1500" dirty="0">
                <a:solidFill>
                  <a:srgbClr val="D5D5D5"/>
                </a:solidFill>
                <a:latin typeface="Exo" pitchFamily="34" charset="0"/>
                <a:ea typeface="Exo" pitchFamily="34" charset="-122"/>
                <a:cs typeface="Exo" pitchFamily="34" charset="-120"/>
              </a:rPr>
              <a:t>Presence and </a:t>
            </a:r>
            <a:r>
              <a:rPr lang="en-US" sz="1500" dirty="0">
                <a:solidFill>
                  <a:srgbClr val="D5D5D5"/>
                </a:solidFill>
                <a:highlight>
                  <a:srgbClr val="0E1F40"/>
                </a:highlight>
                <a:latin typeface="Consolas" pitchFamily="34" charset="0"/>
                <a:ea typeface="Consolas" pitchFamily="34" charset="-122"/>
                <a:cs typeface="Consolas" pitchFamily="34" charset="-120"/>
              </a:rPr>
              <a:t>/who</a:t>
            </a:r>
            <a:r>
              <a:rPr lang="en-US" sz="1500" dirty="0">
                <a:solidFill>
                  <a:srgbClr val="D5D5D5"/>
                </a:solidFill>
                <a:latin typeface="Exo" pitchFamily="34" charset="0"/>
                <a:ea typeface="Exo" pitchFamily="34" charset="-122"/>
                <a:cs typeface="Exo" pitchFamily="34" charset="-120"/>
              </a:rPr>
              <a:t>.</a:t>
            </a:r>
            <a:endParaRPr lang="en-US" sz="1500" dirty="0"/>
          </a:p>
        </p:txBody>
      </p:sp>
      <p:sp>
        <p:nvSpPr>
          <p:cNvPr id="14" name="Shape 10"/>
          <p:cNvSpPr/>
          <p:nvPr/>
        </p:nvSpPr>
        <p:spPr>
          <a:xfrm>
            <a:off x="609585" y="4614267"/>
            <a:ext cx="5410065" cy="2158008"/>
          </a:xfrm>
          <a:prstGeom prst="roundRect">
            <a:avLst>
              <a:gd name="adj" fmla="val 530"/>
            </a:avLst>
          </a:prstGeom>
          <a:solidFill>
            <a:srgbClr val="284682"/>
          </a:solidFill>
          <a:ln/>
        </p:spPr>
      </p:sp>
      <p:sp>
        <p:nvSpPr>
          <p:cNvPr id="15" name="Shape 11"/>
          <p:cNvSpPr/>
          <p:nvPr/>
        </p:nvSpPr>
        <p:spPr>
          <a:xfrm>
            <a:off x="838179" y="4842867"/>
            <a:ext cx="584185" cy="584200"/>
          </a:xfrm>
          <a:prstGeom prst="ellipse">
            <a:avLst/>
          </a:prstGeom>
          <a:solidFill>
            <a:srgbClr val="9BE1FF"/>
          </a:solidFill>
          <a:ln w="6350">
            <a:solidFill>
              <a:srgbClr val="306CE5"/>
            </a:solidFill>
            <a:prstDash val="solid"/>
          </a:ln>
        </p:spPr>
      </p:sp>
      <p:pic>
        <p:nvPicPr>
          <p:cNvPr id="16" name="Image 2" descr="preencoded.png"/>
          <p:cNvPicPr>
            <a:picLocks noChangeAspect="1"/>
          </p:cNvPicPr>
          <p:nvPr/>
        </p:nvPicPr>
        <p:blipFill>
          <a:blip r:embed="rId5"/>
          <a:stretch>
            <a:fillRect/>
          </a:stretch>
        </p:blipFill>
        <p:spPr>
          <a:xfrm>
            <a:off x="987400" y="4992092"/>
            <a:ext cx="285743" cy="285750"/>
          </a:xfrm>
          <a:prstGeom prst="rect">
            <a:avLst/>
          </a:prstGeom>
        </p:spPr>
      </p:pic>
      <p:sp>
        <p:nvSpPr>
          <p:cNvPr id="17" name="Text 12"/>
          <p:cNvSpPr/>
          <p:nvPr/>
        </p:nvSpPr>
        <p:spPr>
          <a:xfrm>
            <a:off x="838179" y="5542701"/>
            <a:ext cx="4952876" cy="318492"/>
          </a:xfrm>
          <a:prstGeom prst="rect">
            <a:avLst/>
          </a:prstGeom>
          <a:noFill/>
          <a:ln/>
        </p:spPr>
        <p:txBody>
          <a:bodyPr wrap="none" lIns="0" tIns="0" rIns="0" bIns="0" rtlCol="0" anchor="t"/>
          <a:lstStyle/>
          <a:p>
            <a:pPr marL="0" indent="0" algn="l">
              <a:lnSpc>
                <a:spcPct val="110000"/>
              </a:lnSpc>
              <a:buNone/>
            </a:pPr>
            <a:r>
              <a:rPr lang="en-US" sz="1900" dirty="0">
                <a:solidFill>
                  <a:srgbClr val="D5D5D5"/>
                </a:solidFill>
                <a:latin typeface="Exo" pitchFamily="34" charset="0"/>
                <a:ea typeface="Exo" pitchFamily="34" charset="-122"/>
                <a:cs typeface="Exo" pitchFamily="34" charset="-120"/>
              </a:rPr>
              <a:t>Interface</a:t>
            </a:r>
            <a:endParaRPr lang="en-US" sz="1900" dirty="0"/>
          </a:p>
        </p:txBody>
      </p:sp>
      <p:sp>
        <p:nvSpPr>
          <p:cNvPr id="18" name="Text 13"/>
          <p:cNvSpPr/>
          <p:nvPr/>
        </p:nvSpPr>
        <p:spPr>
          <a:xfrm>
            <a:off x="838179" y="6002734"/>
            <a:ext cx="4952876"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D5D5D5"/>
                </a:solidFill>
                <a:latin typeface="Exo" pitchFamily="34" charset="0"/>
                <a:ea typeface="Exo" pitchFamily="34" charset="-122"/>
                <a:cs typeface="Exo" pitchFamily="34" charset="-120"/>
              </a:rPr>
              <a:t>Unicode and multi-language text. Commands and a scrollable terminal UI.</a:t>
            </a:r>
            <a:endParaRPr lang="en-US" sz="1500" dirty="0"/>
          </a:p>
        </p:txBody>
      </p:sp>
      <p:sp>
        <p:nvSpPr>
          <p:cNvPr id="19" name="Shape 14"/>
          <p:cNvSpPr/>
          <p:nvPr/>
        </p:nvSpPr>
        <p:spPr>
          <a:xfrm>
            <a:off x="6172046" y="4614267"/>
            <a:ext cx="5410065" cy="2158008"/>
          </a:xfrm>
          <a:prstGeom prst="roundRect">
            <a:avLst>
              <a:gd name="adj" fmla="val 530"/>
            </a:avLst>
          </a:prstGeom>
          <a:solidFill>
            <a:srgbClr val="0E1F40"/>
          </a:solidFill>
          <a:ln/>
        </p:spPr>
      </p:sp>
      <p:sp>
        <p:nvSpPr>
          <p:cNvPr id="20" name="Shape 15"/>
          <p:cNvSpPr/>
          <p:nvPr/>
        </p:nvSpPr>
        <p:spPr>
          <a:xfrm>
            <a:off x="6400640" y="4842867"/>
            <a:ext cx="584185" cy="584200"/>
          </a:xfrm>
          <a:prstGeom prst="ellipse">
            <a:avLst/>
          </a:prstGeom>
          <a:solidFill>
            <a:srgbClr val="9BE1FF"/>
          </a:solidFill>
          <a:ln w="6350">
            <a:solidFill>
              <a:srgbClr val="306CE5"/>
            </a:solidFill>
            <a:prstDash val="solid"/>
          </a:ln>
        </p:spPr>
      </p:sp>
      <p:pic>
        <p:nvPicPr>
          <p:cNvPr id="21" name="Image 3" descr="preencoded.png"/>
          <p:cNvPicPr>
            <a:picLocks noChangeAspect="1"/>
          </p:cNvPicPr>
          <p:nvPr/>
        </p:nvPicPr>
        <p:blipFill>
          <a:blip r:embed="rId6"/>
          <a:stretch>
            <a:fillRect/>
          </a:stretch>
        </p:blipFill>
        <p:spPr>
          <a:xfrm>
            <a:off x="6549861" y="4992092"/>
            <a:ext cx="285743" cy="285750"/>
          </a:xfrm>
          <a:prstGeom prst="rect">
            <a:avLst/>
          </a:prstGeom>
        </p:spPr>
      </p:pic>
      <p:sp>
        <p:nvSpPr>
          <p:cNvPr id="22" name="Text 16"/>
          <p:cNvSpPr/>
          <p:nvPr/>
        </p:nvSpPr>
        <p:spPr>
          <a:xfrm>
            <a:off x="6400640" y="5542701"/>
            <a:ext cx="4952876" cy="318492"/>
          </a:xfrm>
          <a:prstGeom prst="rect">
            <a:avLst/>
          </a:prstGeom>
          <a:noFill/>
          <a:ln/>
        </p:spPr>
        <p:txBody>
          <a:bodyPr wrap="none" lIns="0" tIns="0" rIns="0" bIns="0" rtlCol="0" anchor="t"/>
          <a:lstStyle/>
          <a:p>
            <a:pPr marL="0" indent="0" algn="l">
              <a:lnSpc>
                <a:spcPct val="110000"/>
              </a:lnSpc>
              <a:buNone/>
            </a:pPr>
            <a:r>
              <a:rPr lang="en-US" sz="1900" dirty="0">
                <a:solidFill>
                  <a:srgbClr val="D5D5D5"/>
                </a:solidFill>
                <a:latin typeface="Exo" pitchFamily="34" charset="0"/>
                <a:ea typeface="Exo" pitchFamily="34" charset="-122"/>
                <a:cs typeface="Exo" pitchFamily="34" charset="-120"/>
              </a:rPr>
              <a:t>Resilience</a:t>
            </a:r>
            <a:endParaRPr lang="en-US" sz="1900" dirty="0"/>
          </a:p>
        </p:txBody>
      </p:sp>
      <p:sp>
        <p:nvSpPr>
          <p:cNvPr id="23" name="Text 17"/>
          <p:cNvSpPr/>
          <p:nvPr/>
        </p:nvSpPr>
        <p:spPr>
          <a:xfrm>
            <a:off x="6400640" y="6002734"/>
            <a:ext cx="5181470" cy="270470"/>
          </a:xfrm>
          <a:prstGeom prst="rect">
            <a:avLst/>
          </a:prstGeom>
          <a:noFill/>
          <a:ln/>
        </p:spPr>
        <p:txBody>
          <a:bodyPr wrap="none" lIns="0" tIns="0" rIns="0" bIns="0" rtlCol="0" anchor="t"/>
          <a:lstStyle/>
          <a:p>
            <a:pPr marL="0" indent="0" algn="l">
              <a:lnSpc>
                <a:spcPct val="118000"/>
              </a:lnSpc>
              <a:buNone/>
            </a:pPr>
            <a:r>
              <a:rPr lang="en-US" sz="1500" dirty="0">
                <a:solidFill>
                  <a:srgbClr val="D5D5D5"/>
                </a:solidFill>
                <a:latin typeface="Exo" pitchFamily="34" charset="0"/>
                <a:ea typeface="Exo" pitchFamily="34" charset="-122"/>
                <a:cs typeface="Exo" pitchFamily="34" charset="-120"/>
              </a:rPr>
              <a:t>Graceful disconnects.</a:t>
            </a:r>
            <a:endParaRPr lang="en-US" sz="1500" dirty="0"/>
          </a:p>
        </p:txBody>
      </p:sp>
      <p:sp>
        <p:nvSpPr>
          <p:cNvPr id="24" name="Text 18"/>
          <p:cNvSpPr/>
          <p:nvPr/>
        </p:nvSpPr>
        <p:spPr>
          <a:xfrm>
            <a:off x="11819634" y="6458545"/>
            <a:ext cx="372061"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9D9D9D"/>
                </a:solidFill>
                <a:latin typeface="Fira Mono" pitchFamily="34" charset="0"/>
                <a:ea typeface="Fira Mono" pitchFamily="34" charset="-122"/>
                <a:cs typeface="Fira Mono" pitchFamily="34" charset="-120"/>
              </a:rPr>
              <a:t>07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586422"/>
            <a:ext cx="3251119"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B5B5B5"/>
                </a:solidFill>
                <a:latin typeface="Fira Mono Medium" pitchFamily="34" charset="0"/>
                <a:ea typeface="Fira Mono Medium" pitchFamily="34" charset="-122"/>
                <a:cs typeface="Fira Mono Medium" pitchFamily="34" charset="-120"/>
              </a:rPr>
              <a:t>OPERATOR VIEW</a:t>
            </a:r>
            <a:endParaRPr lang="en-US" sz="1100" dirty="0"/>
          </a:p>
        </p:txBody>
      </p:sp>
      <p:sp>
        <p:nvSpPr>
          <p:cNvPr id="3" name="Text 1"/>
          <p:cNvSpPr/>
          <p:nvPr/>
        </p:nvSpPr>
        <p:spPr>
          <a:xfrm>
            <a:off x="609585" y="878642"/>
            <a:ext cx="2870128" cy="1426666"/>
          </a:xfrm>
          <a:prstGeom prst="rect">
            <a:avLst/>
          </a:prstGeom>
          <a:noFill/>
          <a:ln/>
        </p:spPr>
        <p:txBody>
          <a:bodyPr wrap="square" lIns="0" tIns="0" rIns="0" bIns="0" rtlCol="0" anchor="t">
            <a:normAutofit lnSpcReduction="10000"/>
          </a:bodyPr>
          <a:lstStyle/>
          <a:p>
            <a:pPr marL="0" indent="0" algn="l">
              <a:lnSpc>
                <a:spcPct val="89000"/>
              </a:lnSpc>
              <a:buNone/>
            </a:pPr>
            <a:r>
              <a:rPr lang="en-US" sz="3500" kern="100" spc="-42" dirty="0">
                <a:solidFill>
                  <a:srgbClr val="ECECEC"/>
                </a:solidFill>
                <a:latin typeface="Exo SemiBold" pitchFamily="34" charset="0"/>
                <a:ea typeface="Exo SemiBold" pitchFamily="34" charset="-122"/>
                <a:cs typeface="Exo SemiBold" pitchFamily="34" charset="-120"/>
              </a:rPr>
              <a:t>The terminal UI keeps the state visible</a:t>
            </a:r>
            <a:endParaRPr lang="en-US" sz="3500" dirty="0"/>
          </a:p>
        </p:txBody>
      </p:sp>
      <p:sp>
        <p:nvSpPr>
          <p:cNvPr id="4" name="Shape 2"/>
          <p:cNvSpPr/>
          <p:nvPr/>
        </p:nvSpPr>
        <p:spPr>
          <a:xfrm>
            <a:off x="609585" y="2514699"/>
            <a:ext cx="717433" cy="31651"/>
          </a:xfrm>
          <a:prstGeom prst="roundRect">
            <a:avLst>
              <a:gd name="adj" fmla="val 49998"/>
            </a:avLst>
          </a:prstGeom>
          <a:solidFill>
            <a:srgbClr val="9BE1FF"/>
          </a:solidFill>
          <a:ln/>
        </p:spPr>
      </p:sp>
      <p:sp>
        <p:nvSpPr>
          <p:cNvPr id="5" name="Text 3"/>
          <p:cNvSpPr/>
          <p:nvPr/>
        </p:nvSpPr>
        <p:spPr>
          <a:xfrm>
            <a:off x="609585" y="2770287"/>
            <a:ext cx="2870128" cy="81141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D5D5D5"/>
                </a:solidFill>
                <a:latin typeface="Exo" pitchFamily="34" charset="0"/>
                <a:ea typeface="Exo" pitchFamily="34" charset="-122"/>
                <a:cs typeface="Exo" pitchFamily="34" charset="-120"/>
              </a:rPr>
              <a:t>Room name, connected users, message history, input, and connection status stay in view.</a:t>
            </a:r>
            <a:endParaRPr lang="en-US" sz="1500" dirty="0"/>
          </a:p>
        </p:txBody>
      </p:sp>
      <p:sp>
        <p:nvSpPr>
          <p:cNvPr id="6" name="Text 4"/>
          <p:cNvSpPr/>
          <p:nvPr/>
        </p:nvSpPr>
        <p:spPr>
          <a:xfrm>
            <a:off x="609585" y="5480685"/>
            <a:ext cx="3251119"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B5B5B5"/>
                </a:solidFill>
                <a:latin typeface="Fira Mono Medium" pitchFamily="34" charset="0"/>
                <a:ea typeface="Fira Mono Medium" pitchFamily="34" charset="-122"/>
                <a:cs typeface="Fira Mono Medium" pitchFamily="34" charset="-120"/>
              </a:rPr>
              <a:t>COMMANDS</a:t>
            </a:r>
            <a:endParaRPr lang="en-US" sz="1100" dirty="0"/>
          </a:p>
        </p:txBody>
      </p:sp>
      <p:sp>
        <p:nvSpPr>
          <p:cNvPr id="7" name="Text 5"/>
          <p:cNvSpPr/>
          <p:nvPr/>
        </p:nvSpPr>
        <p:spPr>
          <a:xfrm>
            <a:off x="609585" y="5837833"/>
            <a:ext cx="2870128" cy="486767"/>
          </a:xfrm>
          <a:prstGeom prst="rect">
            <a:avLst/>
          </a:prstGeom>
          <a:noFill/>
          <a:ln/>
        </p:spPr>
        <p:txBody>
          <a:bodyPr wrap="square" lIns="0" tIns="0" rIns="0" bIns="0" rtlCol="0" anchor="t">
            <a:normAutofit/>
          </a:bodyPr>
          <a:lstStyle/>
          <a:p>
            <a:pPr marL="0" indent="0" algn="l">
              <a:lnSpc>
                <a:spcPct val="118000"/>
              </a:lnSpc>
              <a:buNone/>
            </a:pPr>
            <a:r>
              <a:rPr lang="en-US" sz="1350" dirty="0">
                <a:solidFill>
                  <a:srgbClr val="D5D5D5"/>
                </a:solidFill>
                <a:latin typeface="Exo" pitchFamily="34" charset="0"/>
                <a:ea typeface="Exo" pitchFamily="34" charset="-122"/>
                <a:cs typeface="Exo" pitchFamily="34" charset="-120"/>
              </a:rPr>
              <a:t>/join room · /msg user message · /who · /stats · /help · /clear · /quit</a:t>
            </a:r>
            <a:endParaRPr lang="en-US" sz="1350" dirty="0"/>
          </a:p>
        </p:txBody>
      </p:sp>
      <p:pic>
        <p:nvPicPr>
          <p:cNvPr id="8" name="Image 0" descr="preencoded.png"/>
          <p:cNvPicPr>
            <a:picLocks noChangeAspect="1"/>
          </p:cNvPicPr>
          <p:nvPr/>
        </p:nvPicPr>
        <p:blipFill>
          <a:blip r:embed="rId3"/>
          <a:stretch>
            <a:fillRect/>
          </a:stretch>
        </p:blipFill>
        <p:spPr>
          <a:xfrm>
            <a:off x="4241694" y="431800"/>
            <a:ext cx="7391215" cy="4572000"/>
          </a:xfrm>
          <a:prstGeom prst="rect">
            <a:avLst/>
          </a:prstGeom>
        </p:spPr>
      </p:pic>
      <p:sp>
        <p:nvSpPr>
          <p:cNvPr id="9" name="Text 6"/>
          <p:cNvSpPr/>
          <p:nvPr/>
        </p:nvSpPr>
        <p:spPr>
          <a:xfrm>
            <a:off x="11819634" y="6458545"/>
            <a:ext cx="372061"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9D9D9D"/>
                </a:solidFill>
                <a:latin typeface="Fira Mono" pitchFamily="34" charset="0"/>
                <a:ea typeface="Fira Mono" pitchFamily="34" charset="-122"/>
                <a:cs typeface="Fira Mono" pitchFamily="34" charset="-120"/>
              </a:rPr>
              <a:t>08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3657509" cy="6858000"/>
          </a:xfrm>
          <a:prstGeom prst="rect">
            <a:avLst/>
          </a:prstGeom>
          <a:solidFill>
            <a:srgbClr val="0E1F40"/>
          </a:solidFill>
          <a:ln/>
        </p:spPr>
      </p:sp>
      <p:sp>
        <p:nvSpPr>
          <p:cNvPr id="3" name="Text 1"/>
          <p:cNvSpPr/>
          <p:nvPr/>
        </p:nvSpPr>
        <p:spPr>
          <a:xfrm>
            <a:off x="609585" y="611822"/>
            <a:ext cx="3047924"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D5D5D5"/>
                </a:solidFill>
                <a:latin typeface="Fira Mono Medium" pitchFamily="34" charset="0"/>
                <a:ea typeface="Fira Mono Medium" pitchFamily="34" charset="-122"/>
                <a:cs typeface="Fira Mono Medium" pitchFamily="34" charset="-120"/>
              </a:rPr>
              <a:t>RELIABILITY POSTURE</a:t>
            </a:r>
            <a:endParaRPr lang="en-US" sz="1100" dirty="0"/>
          </a:p>
        </p:txBody>
      </p:sp>
      <p:sp>
        <p:nvSpPr>
          <p:cNvPr id="4" name="Text 2"/>
          <p:cNvSpPr/>
          <p:nvPr/>
        </p:nvSpPr>
        <p:spPr>
          <a:xfrm>
            <a:off x="609585" y="1766114"/>
            <a:ext cx="2616135" cy="3581301"/>
          </a:xfrm>
          <a:prstGeom prst="rect">
            <a:avLst/>
          </a:prstGeom>
          <a:noFill/>
          <a:ln/>
        </p:spPr>
        <p:txBody>
          <a:bodyPr wrap="square" lIns="0" tIns="0" rIns="0" bIns="0" rtlCol="0" anchor="t">
            <a:normAutofit lnSpcReduction="10000"/>
          </a:bodyPr>
          <a:lstStyle/>
          <a:p>
            <a:pPr marL="0" indent="0" algn="l">
              <a:lnSpc>
                <a:spcPct val="78000"/>
              </a:lnSpc>
              <a:buNone/>
            </a:pPr>
            <a:r>
              <a:rPr lang="en-US" sz="6000" b="1" kern="100" spc="-240" dirty="0">
                <a:solidFill>
                  <a:srgbClr val="D5D5D5"/>
                </a:solidFill>
                <a:latin typeface="MuseoModerno Bold" pitchFamily="34" charset="0"/>
                <a:ea typeface="MuseoModerno Bold" pitchFamily="34" charset="-122"/>
                <a:cs typeface="MuseoModerno Bold" pitchFamily="34" charset="-120"/>
              </a:rPr>
              <a:t>Start where</a:t>
            </a:r>
            <a:endParaRPr lang="en-US" sz="6000" dirty="0"/>
          </a:p>
          <a:p>
            <a:pPr marL="0" indent="0" algn="l">
              <a:lnSpc>
                <a:spcPct val="78000"/>
              </a:lnSpc>
              <a:buNone/>
            </a:pPr>
            <a:r>
              <a:rPr lang="en-US" sz="6000" b="1" kern="100" spc="-240" dirty="0">
                <a:solidFill>
                  <a:srgbClr val="D5D5D5"/>
                </a:solidFill>
                <a:latin typeface="MuseoModerno Bold" pitchFamily="34" charset="0"/>
                <a:ea typeface="MuseoModerno Bold" pitchFamily="34" charset="-122"/>
                <a:cs typeface="MuseoModerno Bold" pitchFamily="34" charset="-120"/>
              </a:rPr>
              <a:t>the bytes enter.</a:t>
            </a:r>
            <a:endParaRPr lang="en-US" sz="6000" dirty="0"/>
          </a:p>
        </p:txBody>
      </p:sp>
      <p:sp>
        <p:nvSpPr>
          <p:cNvPr id="5" name="Shape 3"/>
          <p:cNvSpPr/>
          <p:nvPr/>
        </p:nvSpPr>
        <p:spPr>
          <a:xfrm>
            <a:off x="609585" y="5502672"/>
            <a:ext cx="654034" cy="31651"/>
          </a:xfrm>
          <a:prstGeom prst="roundRect">
            <a:avLst>
              <a:gd name="adj" fmla="val 49998"/>
            </a:avLst>
          </a:prstGeom>
          <a:solidFill>
            <a:srgbClr val="9BE1FF"/>
          </a:solidFill>
          <a:ln/>
        </p:spPr>
      </p:sp>
      <p:sp>
        <p:nvSpPr>
          <p:cNvPr id="6" name="Text 4"/>
          <p:cNvSpPr/>
          <p:nvPr/>
        </p:nvSpPr>
        <p:spPr>
          <a:xfrm>
            <a:off x="609585" y="5758259"/>
            <a:ext cx="2616135"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D5D5D5"/>
                </a:solidFill>
                <a:latin typeface="Exo" pitchFamily="34" charset="0"/>
                <a:ea typeface="Exo" pitchFamily="34" charset="-122"/>
                <a:cs typeface="Exo" pitchFamily="34" charset="-120"/>
              </a:rPr>
              <a:t>Concrete controls protect the local boundary.</a:t>
            </a:r>
            <a:endParaRPr lang="en-US" sz="1500" dirty="0"/>
          </a:p>
        </p:txBody>
      </p:sp>
      <p:pic>
        <p:nvPicPr>
          <p:cNvPr id="7" name="Image 0" descr="preencoded.png"/>
          <p:cNvPicPr>
            <a:picLocks noChangeAspect="1"/>
          </p:cNvPicPr>
          <p:nvPr/>
        </p:nvPicPr>
        <p:blipFill>
          <a:blip r:embed="rId3"/>
          <a:stretch>
            <a:fillRect/>
          </a:stretch>
        </p:blipFill>
        <p:spPr>
          <a:xfrm>
            <a:off x="4013100" y="406400"/>
            <a:ext cx="7670608" cy="4314825"/>
          </a:xfrm>
          <a:prstGeom prst="rect">
            <a:avLst/>
          </a:prstGeom>
        </p:spPr>
      </p:pic>
      <p:sp>
        <p:nvSpPr>
          <p:cNvPr id="8" name="Text 5"/>
          <p:cNvSpPr/>
          <p:nvPr/>
        </p:nvSpPr>
        <p:spPr>
          <a:xfrm>
            <a:off x="11819634" y="6458545"/>
            <a:ext cx="372061"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9D9D9D"/>
                </a:solidFill>
                <a:latin typeface="Fira Mono" pitchFamily="34" charset="0"/>
                <a:ea typeface="Fira Mono" pitchFamily="34" charset="-122"/>
                <a:cs typeface="Fira Mono" pitchFamily="34" charset="-120"/>
              </a:rPr>
              <a:t>09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9585" y="650621"/>
            <a:ext cx="10972526" cy="597892"/>
          </a:xfrm>
          <a:prstGeom prst="rect">
            <a:avLst/>
          </a:prstGeom>
          <a:noFill/>
          <a:ln/>
        </p:spPr>
        <p:txBody>
          <a:bodyPr wrap="none" lIns="0" tIns="0" rIns="0" bIns="0" rtlCol="0" anchor="t"/>
          <a:lstStyle/>
          <a:p>
            <a:pPr marL="0" indent="0" algn="l">
              <a:lnSpc>
                <a:spcPct val="89000"/>
              </a:lnSpc>
              <a:buNone/>
            </a:pPr>
            <a:r>
              <a:rPr lang="en-US" sz="4400" kern="100" spc="-53" dirty="0">
                <a:solidFill>
                  <a:srgbClr val="ECECEC"/>
                </a:solidFill>
                <a:latin typeface="Exo SemiBold" pitchFamily="34" charset="0"/>
                <a:ea typeface="Exo SemiBold" pitchFamily="34" charset="-122"/>
                <a:cs typeface="Exo SemiBold" pitchFamily="34" charset="-120"/>
              </a:rPr>
              <a:t>The demo makes the IPC loop visible</a:t>
            </a:r>
            <a:endParaRPr lang="en-US" sz="4400" dirty="0"/>
          </a:p>
        </p:txBody>
      </p:sp>
      <p:sp>
        <p:nvSpPr>
          <p:cNvPr id="3" name="Shape 1"/>
          <p:cNvSpPr/>
          <p:nvPr/>
        </p:nvSpPr>
        <p:spPr>
          <a:xfrm>
            <a:off x="609585" y="1450380"/>
            <a:ext cx="2743131" cy="31651"/>
          </a:xfrm>
          <a:prstGeom prst="roundRect">
            <a:avLst>
              <a:gd name="adj" fmla="val 49998"/>
            </a:avLst>
          </a:prstGeom>
          <a:solidFill>
            <a:srgbClr val="9BE1FF"/>
          </a:solidFill>
          <a:ln/>
        </p:spPr>
      </p:sp>
      <p:sp>
        <p:nvSpPr>
          <p:cNvPr id="4" name="Text 2"/>
          <p:cNvSpPr/>
          <p:nvPr/>
        </p:nvSpPr>
        <p:spPr>
          <a:xfrm>
            <a:off x="609585" y="1934567"/>
            <a:ext cx="803751" cy="190500"/>
          </a:xfrm>
          <a:prstGeom prst="rect">
            <a:avLst/>
          </a:prstGeom>
          <a:noFill/>
          <a:ln/>
        </p:spPr>
        <p:txBody>
          <a:bodyPr wrap="none" lIns="0" tIns="0" rIns="0" bIns="0" rtlCol="0" anchor="t"/>
          <a:lstStyle/>
          <a:p>
            <a:pPr marL="0" indent="0" algn="l">
              <a:lnSpc>
                <a:spcPct val="83000"/>
              </a:lnSpc>
              <a:buNone/>
            </a:pPr>
            <a:r>
              <a:rPr lang="en-US" sz="1500" dirty="0">
                <a:solidFill>
                  <a:srgbClr val="9BE1FF"/>
                </a:solidFill>
                <a:latin typeface="Exo SemiBold" pitchFamily="34" charset="0"/>
                <a:ea typeface="Exo SemiBold" pitchFamily="34" charset="-122"/>
                <a:cs typeface="Exo SemiBold" pitchFamily="34" charset="-120"/>
              </a:rPr>
              <a:t>01</a:t>
            </a:r>
            <a:endParaRPr lang="en-US" sz="1500" dirty="0"/>
          </a:p>
        </p:txBody>
      </p:sp>
      <p:sp>
        <p:nvSpPr>
          <p:cNvPr id="5" name="Shape 3"/>
          <p:cNvSpPr/>
          <p:nvPr/>
        </p:nvSpPr>
        <p:spPr>
          <a:xfrm>
            <a:off x="609585" y="2201267"/>
            <a:ext cx="2666933" cy="19050"/>
          </a:xfrm>
          <a:prstGeom prst="rect">
            <a:avLst/>
          </a:prstGeom>
          <a:solidFill>
            <a:srgbClr val="9BE1FF"/>
          </a:solidFill>
          <a:ln/>
        </p:spPr>
      </p:sp>
      <p:sp>
        <p:nvSpPr>
          <p:cNvPr id="6" name="Text 4"/>
          <p:cNvSpPr/>
          <p:nvPr/>
        </p:nvSpPr>
        <p:spPr>
          <a:xfrm>
            <a:off x="609585" y="2335951"/>
            <a:ext cx="2666933" cy="318492"/>
          </a:xfrm>
          <a:prstGeom prst="rect">
            <a:avLst/>
          </a:prstGeom>
          <a:noFill/>
          <a:ln/>
        </p:spPr>
        <p:txBody>
          <a:bodyPr wrap="none" lIns="0" tIns="0" rIns="0" bIns="0" rtlCol="0" anchor="t"/>
          <a:lstStyle/>
          <a:p>
            <a:pPr marL="0" indent="0" algn="l">
              <a:lnSpc>
                <a:spcPct val="110000"/>
              </a:lnSpc>
              <a:buNone/>
            </a:pPr>
            <a:r>
              <a:rPr lang="en-US" sz="1900" dirty="0">
                <a:solidFill>
                  <a:srgbClr val="D5D5D5"/>
                </a:solidFill>
                <a:latin typeface="Exo" pitchFamily="34" charset="0"/>
                <a:ea typeface="Exo" pitchFamily="34" charset="-122"/>
                <a:cs typeface="Exo" pitchFamily="34" charset="-120"/>
              </a:rPr>
              <a:t>Start Relay</a:t>
            </a:r>
            <a:endParaRPr lang="en-US" sz="1900" dirty="0"/>
          </a:p>
        </p:txBody>
      </p:sp>
      <p:sp>
        <p:nvSpPr>
          <p:cNvPr id="7" name="Text 5"/>
          <p:cNvSpPr/>
          <p:nvPr/>
        </p:nvSpPr>
        <p:spPr>
          <a:xfrm>
            <a:off x="609585" y="2795984"/>
            <a:ext cx="2666933" cy="270470"/>
          </a:xfrm>
          <a:prstGeom prst="rect">
            <a:avLst/>
          </a:prstGeom>
          <a:noFill/>
          <a:ln/>
        </p:spPr>
        <p:txBody>
          <a:bodyPr wrap="none" lIns="0" tIns="0" rIns="0" bIns="0" rtlCol="0" anchor="t"/>
          <a:lstStyle/>
          <a:p>
            <a:pPr marL="0" indent="0" algn="l">
              <a:lnSpc>
                <a:spcPct val="118000"/>
              </a:lnSpc>
              <a:buNone/>
            </a:pPr>
            <a:r>
              <a:rPr lang="en-US" sz="1500" dirty="0">
                <a:solidFill>
                  <a:srgbClr val="D5D5D5"/>
                </a:solidFill>
                <a:latin typeface="Exo" pitchFamily="34" charset="0"/>
                <a:ea typeface="Exo" pitchFamily="34" charset="-122"/>
                <a:cs typeface="Exo" pitchFamily="34" charset="-120"/>
              </a:rPr>
              <a:t>Start the Relay server.</a:t>
            </a:r>
            <a:endParaRPr lang="en-US" sz="1500" dirty="0"/>
          </a:p>
        </p:txBody>
      </p:sp>
      <p:sp>
        <p:nvSpPr>
          <p:cNvPr id="8" name="Text 6"/>
          <p:cNvSpPr/>
          <p:nvPr/>
        </p:nvSpPr>
        <p:spPr>
          <a:xfrm>
            <a:off x="3428914" y="1934567"/>
            <a:ext cx="845620" cy="190500"/>
          </a:xfrm>
          <a:prstGeom prst="rect">
            <a:avLst/>
          </a:prstGeom>
          <a:noFill/>
          <a:ln/>
        </p:spPr>
        <p:txBody>
          <a:bodyPr wrap="none" lIns="0" tIns="0" rIns="0" bIns="0" rtlCol="0" anchor="t"/>
          <a:lstStyle/>
          <a:p>
            <a:pPr marL="0" indent="0" algn="l">
              <a:lnSpc>
                <a:spcPct val="83000"/>
              </a:lnSpc>
              <a:buNone/>
            </a:pPr>
            <a:r>
              <a:rPr lang="en-US" sz="1500" dirty="0">
                <a:solidFill>
                  <a:srgbClr val="9BE1FF"/>
                </a:solidFill>
                <a:latin typeface="Exo SemiBold" pitchFamily="34" charset="0"/>
                <a:ea typeface="Exo SemiBold" pitchFamily="34" charset="-122"/>
                <a:cs typeface="Exo SemiBold" pitchFamily="34" charset="-120"/>
              </a:rPr>
              <a:t>02</a:t>
            </a:r>
            <a:endParaRPr lang="en-US" sz="1500" dirty="0"/>
          </a:p>
        </p:txBody>
      </p:sp>
      <p:sp>
        <p:nvSpPr>
          <p:cNvPr id="9" name="Shape 7"/>
          <p:cNvSpPr/>
          <p:nvPr/>
        </p:nvSpPr>
        <p:spPr>
          <a:xfrm>
            <a:off x="3428914" y="2201267"/>
            <a:ext cx="2590735" cy="19050"/>
          </a:xfrm>
          <a:prstGeom prst="rect">
            <a:avLst/>
          </a:prstGeom>
          <a:solidFill>
            <a:srgbClr val="9BE1FF"/>
          </a:solidFill>
          <a:ln/>
        </p:spPr>
      </p:sp>
      <p:sp>
        <p:nvSpPr>
          <p:cNvPr id="10" name="Text 8"/>
          <p:cNvSpPr/>
          <p:nvPr/>
        </p:nvSpPr>
        <p:spPr>
          <a:xfrm>
            <a:off x="3428914" y="2335951"/>
            <a:ext cx="2590735" cy="318492"/>
          </a:xfrm>
          <a:prstGeom prst="rect">
            <a:avLst/>
          </a:prstGeom>
          <a:noFill/>
          <a:ln/>
        </p:spPr>
        <p:txBody>
          <a:bodyPr wrap="none" lIns="0" tIns="0" rIns="0" bIns="0" rtlCol="0" anchor="t"/>
          <a:lstStyle/>
          <a:p>
            <a:pPr marL="0" indent="0" algn="l">
              <a:lnSpc>
                <a:spcPct val="110000"/>
              </a:lnSpc>
              <a:buNone/>
            </a:pPr>
            <a:r>
              <a:rPr lang="en-US" sz="1900" dirty="0">
                <a:solidFill>
                  <a:srgbClr val="D5D5D5"/>
                </a:solidFill>
                <a:latin typeface="Exo" pitchFamily="34" charset="0"/>
                <a:ea typeface="Exo" pitchFamily="34" charset="-122"/>
                <a:cs typeface="Exo" pitchFamily="34" charset="-120"/>
              </a:rPr>
              <a:t>Launch Alice</a:t>
            </a:r>
            <a:endParaRPr lang="en-US" sz="1900" dirty="0"/>
          </a:p>
        </p:txBody>
      </p:sp>
      <p:sp>
        <p:nvSpPr>
          <p:cNvPr id="11" name="Text 9"/>
          <p:cNvSpPr/>
          <p:nvPr/>
        </p:nvSpPr>
        <p:spPr>
          <a:xfrm>
            <a:off x="3428914" y="2795984"/>
            <a:ext cx="2590735"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D5D5D5"/>
                </a:solidFill>
                <a:latin typeface="Exo" pitchFamily="34" charset="0"/>
                <a:ea typeface="Exo" pitchFamily="34" charset="-122"/>
                <a:cs typeface="Exo" pitchFamily="34" charset="-120"/>
              </a:rPr>
              <a:t>Launch Client Alice in one terminal.</a:t>
            </a:r>
            <a:endParaRPr lang="en-US" sz="1500" dirty="0"/>
          </a:p>
        </p:txBody>
      </p:sp>
      <p:sp>
        <p:nvSpPr>
          <p:cNvPr id="12" name="Text 10"/>
          <p:cNvSpPr/>
          <p:nvPr/>
        </p:nvSpPr>
        <p:spPr>
          <a:xfrm>
            <a:off x="6172046" y="1934567"/>
            <a:ext cx="844132" cy="190500"/>
          </a:xfrm>
          <a:prstGeom prst="rect">
            <a:avLst/>
          </a:prstGeom>
          <a:noFill/>
          <a:ln/>
        </p:spPr>
        <p:txBody>
          <a:bodyPr wrap="none" lIns="0" tIns="0" rIns="0" bIns="0" rtlCol="0" anchor="t"/>
          <a:lstStyle/>
          <a:p>
            <a:pPr marL="0" indent="0" algn="l">
              <a:lnSpc>
                <a:spcPct val="83000"/>
              </a:lnSpc>
              <a:buNone/>
            </a:pPr>
            <a:r>
              <a:rPr lang="en-US" sz="1500" dirty="0">
                <a:solidFill>
                  <a:srgbClr val="9BE1FF"/>
                </a:solidFill>
                <a:latin typeface="Exo SemiBold" pitchFamily="34" charset="0"/>
                <a:ea typeface="Exo SemiBold" pitchFamily="34" charset="-122"/>
                <a:cs typeface="Exo SemiBold" pitchFamily="34" charset="-120"/>
              </a:rPr>
              <a:t>03</a:t>
            </a:r>
            <a:endParaRPr lang="en-US" sz="1500" dirty="0"/>
          </a:p>
        </p:txBody>
      </p:sp>
      <p:sp>
        <p:nvSpPr>
          <p:cNvPr id="13" name="Shape 11"/>
          <p:cNvSpPr/>
          <p:nvPr/>
        </p:nvSpPr>
        <p:spPr>
          <a:xfrm>
            <a:off x="6172046" y="2201267"/>
            <a:ext cx="2628834" cy="19050"/>
          </a:xfrm>
          <a:prstGeom prst="rect">
            <a:avLst/>
          </a:prstGeom>
          <a:solidFill>
            <a:srgbClr val="9BE1FF"/>
          </a:solidFill>
          <a:ln/>
        </p:spPr>
      </p:sp>
      <p:sp>
        <p:nvSpPr>
          <p:cNvPr id="14" name="Text 12"/>
          <p:cNvSpPr/>
          <p:nvPr/>
        </p:nvSpPr>
        <p:spPr>
          <a:xfrm>
            <a:off x="6172046" y="2335951"/>
            <a:ext cx="2628834" cy="318492"/>
          </a:xfrm>
          <a:prstGeom prst="rect">
            <a:avLst/>
          </a:prstGeom>
          <a:noFill/>
          <a:ln/>
        </p:spPr>
        <p:txBody>
          <a:bodyPr wrap="none" lIns="0" tIns="0" rIns="0" bIns="0" rtlCol="0" anchor="t"/>
          <a:lstStyle/>
          <a:p>
            <a:pPr marL="0" indent="0" algn="l">
              <a:lnSpc>
                <a:spcPct val="110000"/>
              </a:lnSpc>
              <a:buNone/>
            </a:pPr>
            <a:r>
              <a:rPr lang="en-US" sz="1900" dirty="0">
                <a:solidFill>
                  <a:srgbClr val="D5D5D5"/>
                </a:solidFill>
                <a:latin typeface="Exo" pitchFamily="34" charset="0"/>
                <a:ea typeface="Exo" pitchFamily="34" charset="-122"/>
                <a:cs typeface="Exo" pitchFamily="34" charset="-120"/>
              </a:rPr>
              <a:t>Launch Bob</a:t>
            </a:r>
            <a:endParaRPr lang="en-US" sz="1900" dirty="0"/>
          </a:p>
        </p:txBody>
      </p:sp>
      <p:sp>
        <p:nvSpPr>
          <p:cNvPr id="15" name="Text 13"/>
          <p:cNvSpPr/>
          <p:nvPr/>
        </p:nvSpPr>
        <p:spPr>
          <a:xfrm>
            <a:off x="6172046" y="2795984"/>
            <a:ext cx="2628834" cy="270470"/>
          </a:xfrm>
          <a:prstGeom prst="rect">
            <a:avLst/>
          </a:prstGeom>
          <a:noFill/>
          <a:ln/>
        </p:spPr>
        <p:txBody>
          <a:bodyPr wrap="none" lIns="0" tIns="0" rIns="0" bIns="0" rtlCol="0" anchor="t"/>
          <a:lstStyle/>
          <a:p>
            <a:pPr marL="0" indent="0" algn="l">
              <a:lnSpc>
                <a:spcPct val="118000"/>
              </a:lnSpc>
              <a:buNone/>
            </a:pPr>
            <a:r>
              <a:rPr lang="en-US" sz="1500" dirty="0">
                <a:solidFill>
                  <a:srgbClr val="D5D5D5"/>
                </a:solidFill>
                <a:latin typeface="Exo" pitchFamily="34" charset="0"/>
                <a:ea typeface="Exo" pitchFamily="34" charset="-122"/>
                <a:cs typeface="Exo" pitchFamily="34" charset="-120"/>
              </a:rPr>
              <a:t>Launch Client Bob in another.</a:t>
            </a:r>
            <a:endParaRPr lang="en-US" sz="1500" dirty="0"/>
          </a:p>
        </p:txBody>
      </p:sp>
      <p:sp>
        <p:nvSpPr>
          <p:cNvPr id="16" name="Text 14"/>
          <p:cNvSpPr/>
          <p:nvPr/>
        </p:nvSpPr>
        <p:spPr>
          <a:xfrm>
            <a:off x="8953276" y="1934567"/>
            <a:ext cx="849688" cy="190500"/>
          </a:xfrm>
          <a:prstGeom prst="rect">
            <a:avLst/>
          </a:prstGeom>
          <a:noFill/>
          <a:ln/>
        </p:spPr>
        <p:txBody>
          <a:bodyPr wrap="none" lIns="0" tIns="0" rIns="0" bIns="0" rtlCol="0" anchor="t"/>
          <a:lstStyle/>
          <a:p>
            <a:pPr marL="0" indent="0" algn="l">
              <a:lnSpc>
                <a:spcPct val="83000"/>
              </a:lnSpc>
              <a:buNone/>
            </a:pPr>
            <a:r>
              <a:rPr lang="en-US" sz="1500" dirty="0">
                <a:solidFill>
                  <a:srgbClr val="9BE1FF"/>
                </a:solidFill>
                <a:latin typeface="Exo SemiBold" pitchFamily="34" charset="0"/>
                <a:ea typeface="Exo SemiBold" pitchFamily="34" charset="-122"/>
                <a:cs typeface="Exo SemiBold" pitchFamily="34" charset="-120"/>
              </a:rPr>
              <a:t>04</a:t>
            </a:r>
            <a:endParaRPr lang="en-US" sz="1500" dirty="0"/>
          </a:p>
        </p:txBody>
      </p:sp>
      <p:sp>
        <p:nvSpPr>
          <p:cNvPr id="17" name="Shape 15"/>
          <p:cNvSpPr/>
          <p:nvPr/>
        </p:nvSpPr>
        <p:spPr>
          <a:xfrm>
            <a:off x="8953276" y="2201267"/>
            <a:ext cx="2628834" cy="19050"/>
          </a:xfrm>
          <a:prstGeom prst="rect">
            <a:avLst/>
          </a:prstGeom>
          <a:solidFill>
            <a:srgbClr val="9BE1FF"/>
          </a:solidFill>
          <a:ln/>
        </p:spPr>
      </p:sp>
      <p:sp>
        <p:nvSpPr>
          <p:cNvPr id="18" name="Text 16"/>
          <p:cNvSpPr/>
          <p:nvPr/>
        </p:nvSpPr>
        <p:spPr>
          <a:xfrm>
            <a:off x="8953276" y="2335951"/>
            <a:ext cx="2628834" cy="318492"/>
          </a:xfrm>
          <a:prstGeom prst="rect">
            <a:avLst/>
          </a:prstGeom>
          <a:noFill/>
          <a:ln/>
        </p:spPr>
        <p:txBody>
          <a:bodyPr wrap="none" lIns="0" tIns="0" rIns="0" bIns="0" rtlCol="0" anchor="t"/>
          <a:lstStyle/>
          <a:p>
            <a:pPr marL="0" indent="0" algn="l">
              <a:lnSpc>
                <a:spcPct val="110000"/>
              </a:lnSpc>
              <a:buNone/>
            </a:pPr>
            <a:r>
              <a:rPr lang="en-US" sz="1900" dirty="0">
                <a:solidFill>
                  <a:srgbClr val="D5D5D5"/>
                </a:solidFill>
                <a:latin typeface="Exo" pitchFamily="34" charset="0"/>
                <a:ea typeface="Exo" pitchFamily="34" charset="-122"/>
                <a:cs typeface="Exo" pitchFamily="34" charset="-120"/>
              </a:rPr>
              <a:t>Join and chat</a:t>
            </a:r>
            <a:endParaRPr lang="en-US" sz="1900" dirty="0"/>
          </a:p>
        </p:txBody>
      </p:sp>
      <p:sp>
        <p:nvSpPr>
          <p:cNvPr id="19" name="Text 17"/>
          <p:cNvSpPr/>
          <p:nvPr/>
        </p:nvSpPr>
        <p:spPr>
          <a:xfrm>
            <a:off x="8953276" y="2795984"/>
            <a:ext cx="2628834"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D5D5D5"/>
                </a:solidFill>
                <a:latin typeface="Exo" pitchFamily="34" charset="0"/>
                <a:ea typeface="Exo" pitchFamily="34" charset="-122"/>
                <a:cs typeface="Exo" pitchFamily="34" charset="-120"/>
              </a:rPr>
              <a:t>Join the same room and exchange messages.</a:t>
            </a:r>
            <a:endParaRPr lang="en-US" sz="1500" dirty="0"/>
          </a:p>
        </p:txBody>
      </p:sp>
      <p:sp>
        <p:nvSpPr>
          <p:cNvPr id="20" name="Text 18"/>
          <p:cNvSpPr/>
          <p:nvPr/>
        </p:nvSpPr>
        <p:spPr>
          <a:xfrm>
            <a:off x="609585" y="3946525"/>
            <a:ext cx="850779" cy="190500"/>
          </a:xfrm>
          <a:prstGeom prst="rect">
            <a:avLst/>
          </a:prstGeom>
          <a:noFill/>
          <a:ln/>
        </p:spPr>
        <p:txBody>
          <a:bodyPr wrap="none" lIns="0" tIns="0" rIns="0" bIns="0" rtlCol="0" anchor="t"/>
          <a:lstStyle/>
          <a:p>
            <a:pPr marL="0" indent="0" algn="l">
              <a:lnSpc>
                <a:spcPct val="83000"/>
              </a:lnSpc>
              <a:buNone/>
            </a:pPr>
            <a:r>
              <a:rPr lang="en-US" sz="1500" dirty="0">
                <a:solidFill>
                  <a:srgbClr val="9BE1FF"/>
                </a:solidFill>
                <a:latin typeface="Exo SemiBold" pitchFamily="34" charset="0"/>
                <a:ea typeface="Exo SemiBold" pitchFamily="34" charset="-122"/>
                <a:cs typeface="Exo SemiBold" pitchFamily="34" charset="-120"/>
              </a:rPr>
              <a:t>05</a:t>
            </a:r>
            <a:endParaRPr lang="en-US" sz="1500" dirty="0"/>
          </a:p>
        </p:txBody>
      </p:sp>
      <p:sp>
        <p:nvSpPr>
          <p:cNvPr id="21" name="Shape 19"/>
          <p:cNvSpPr/>
          <p:nvPr/>
        </p:nvSpPr>
        <p:spPr>
          <a:xfrm>
            <a:off x="609585" y="4213225"/>
            <a:ext cx="2666933" cy="19050"/>
          </a:xfrm>
          <a:prstGeom prst="rect">
            <a:avLst/>
          </a:prstGeom>
          <a:solidFill>
            <a:srgbClr val="9BE1FF"/>
          </a:solidFill>
          <a:ln/>
        </p:spPr>
      </p:sp>
      <p:sp>
        <p:nvSpPr>
          <p:cNvPr id="22" name="Text 20"/>
          <p:cNvSpPr/>
          <p:nvPr/>
        </p:nvSpPr>
        <p:spPr>
          <a:xfrm>
            <a:off x="609585" y="4347909"/>
            <a:ext cx="2666933" cy="318492"/>
          </a:xfrm>
          <a:prstGeom prst="rect">
            <a:avLst/>
          </a:prstGeom>
          <a:noFill/>
          <a:ln/>
        </p:spPr>
        <p:txBody>
          <a:bodyPr wrap="none" lIns="0" tIns="0" rIns="0" bIns="0" rtlCol="0" anchor="t"/>
          <a:lstStyle/>
          <a:p>
            <a:pPr marL="0" indent="0" algn="l">
              <a:lnSpc>
                <a:spcPct val="110000"/>
              </a:lnSpc>
              <a:buNone/>
            </a:pPr>
            <a:r>
              <a:rPr lang="en-US" sz="1900" dirty="0">
                <a:solidFill>
                  <a:srgbClr val="D5D5D5"/>
                </a:solidFill>
                <a:latin typeface="Exo" pitchFamily="34" charset="0"/>
                <a:ea typeface="Exo" pitchFamily="34" charset="-122"/>
                <a:cs typeface="Exo" pitchFamily="34" charset="-120"/>
              </a:rPr>
              <a:t>Private path</a:t>
            </a:r>
            <a:endParaRPr lang="en-US" sz="1900" dirty="0"/>
          </a:p>
        </p:txBody>
      </p:sp>
      <p:sp>
        <p:nvSpPr>
          <p:cNvPr id="23" name="Text 21"/>
          <p:cNvSpPr/>
          <p:nvPr/>
        </p:nvSpPr>
        <p:spPr>
          <a:xfrm>
            <a:off x="609585" y="4807942"/>
            <a:ext cx="2666933"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D5D5D5"/>
                </a:solidFill>
                <a:latin typeface="Exo" pitchFamily="34" charset="0"/>
                <a:ea typeface="Exo" pitchFamily="34" charset="-122"/>
                <a:cs typeface="Exo" pitchFamily="34" charset="-120"/>
              </a:rPr>
              <a:t>Send a private message and display connected users.</a:t>
            </a:r>
            <a:endParaRPr lang="en-US" sz="1500" dirty="0"/>
          </a:p>
        </p:txBody>
      </p:sp>
      <p:sp>
        <p:nvSpPr>
          <p:cNvPr id="24" name="Text 22"/>
          <p:cNvSpPr/>
          <p:nvPr/>
        </p:nvSpPr>
        <p:spPr>
          <a:xfrm>
            <a:off x="3428914" y="3946525"/>
            <a:ext cx="850184" cy="190500"/>
          </a:xfrm>
          <a:prstGeom prst="rect">
            <a:avLst/>
          </a:prstGeom>
          <a:noFill/>
          <a:ln/>
        </p:spPr>
        <p:txBody>
          <a:bodyPr wrap="none" lIns="0" tIns="0" rIns="0" bIns="0" rtlCol="0" anchor="t"/>
          <a:lstStyle/>
          <a:p>
            <a:pPr marL="0" indent="0" algn="l">
              <a:lnSpc>
                <a:spcPct val="83000"/>
              </a:lnSpc>
              <a:buNone/>
            </a:pPr>
            <a:r>
              <a:rPr lang="en-US" sz="1500" dirty="0">
                <a:solidFill>
                  <a:srgbClr val="9BE1FF"/>
                </a:solidFill>
                <a:latin typeface="Exo SemiBold" pitchFamily="34" charset="0"/>
                <a:ea typeface="Exo SemiBold" pitchFamily="34" charset="-122"/>
                <a:cs typeface="Exo SemiBold" pitchFamily="34" charset="-120"/>
              </a:rPr>
              <a:t>06</a:t>
            </a:r>
            <a:endParaRPr lang="en-US" sz="1500" dirty="0"/>
          </a:p>
        </p:txBody>
      </p:sp>
      <p:sp>
        <p:nvSpPr>
          <p:cNvPr id="25" name="Shape 23"/>
          <p:cNvSpPr/>
          <p:nvPr/>
        </p:nvSpPr>
        <p:spPr>
          <a:xfrm>
            <a:off x="3428914" y="4213225"/>
            <a:ext cx="2590735" cy="19050"/>
          </a:xfrm>
          <a:prstGeom prst="rect">
            <a:avLst/>
          </a:prstGeom>
          <a:solidFill>
            <a:srgbClr val="9BE1FF"/>
          </a:solidFill>
          <a:ln/>
        </p:spPr>
      </p:sp>
      <p:sp>
        <p:nvSpPr>
          <p:cNvPr id="26" name="Text 24"/>
          <p:cNvSpPr/>
          <p:nvPr/>
        </p:nvSpPr>
        <p:spPr>
          <a:xfrm>
            <a:off x="3428914" y="4347909"/>
            <a:ext cx="2590735" cy="318492"/>
          </a:xfrm>
          <a:prstGeom prst="rect">
            <a:avLst/>
          </a:prstGeom>
          <a:noFill/>
          <a:ln/>
        </p:spPr>
        <p:txBody>
          <a:bodyPr wrap="none" lIns="0" tIns="0" rIns="0" bIns="0" rtlCol="0" anchor="t"/>
          <a:lstStyle/>
          <a:p>
            <a:pPr marL="0" indent="0" algn="l">
              <a:lnSpc>
                <a:spcPct val="110000"/>
              </a:lnSpc>
              <a:buNone/>
            </a:pPr>
            <a:r>
              <a:rPr lang="en-US" sz="1900" dirty="0">
                <a:solidFill>
                  <a:srgbClr val="D5D5D5"/>
                </a:solidFill>
                <a:latin typeface="Exo" pitchFamily="34" charset="0"/>
                <a:ea typeface="Exo" pitchFamily="34" charset="-122"/>
                <a:cs typeface="Exo" pitchFamily="34" charset="-120"/>
              </a:rPr>
              <a:t>Observe state</a:t>
            </a:r>
            <a:endParaRPr lang="en-US" sz="1900" dirty="0"/>
          </a:p>
        </p:txBody>
      </p:sp>
      <p:sp>
        <p:nvSpPr>
          <p:cNvPr id="27" name="Text 25"/>
          <p:cNvSpPr/>
          <p:nvPr/>
        </p:nvSpPr>
        <p:spPr>
          <a:xfrm>
            <a:off x="3428914" y="4807942"/>
            <a:ext cx="2590735"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D5D5D5"/>
                </a:solidFill>
                <a:latin typeface="Exo" pitchFamily="34" charset="0"/>
                <a:ea typeface="Exo" pitchFamily="34" charset="-122"/>
                <a:cs typeface="Exo" pitchFamily="34" charset="-120"/>
              </a:rPr>
              <a:t>Show acknowledgements and room history.</a:t>
            </a:r>
            <a:endParaRPr lang="en-US" sz="1500" dirty="0"/>
          </a:p>
        </p:txBody>
      </p:sp>
      <p:sp>
        <p:nvSpPr>
          <p:cNvPr id="28" name="Shape 26"/>
          <p:cNvSpPr/>
          <p:nvPr/>
        </p:nvSpPr>
        <p:spPr>
          <a:xfrm>
            <a:off x="6172046" y="3717925"/>
            <a:ext cx="5410065" cy="1859558"/>
          </a:xfrm>
          <a:prstGeom prst="rect">
            <a:avLst/>
          </a:prstGeom>
          <a:solidFill>
            <a:srgbClr val="0E1F40"/>
          </a:solidFill>
          <a:ln/>
        </p:spPr>
      </p:sp>
      <p:sp>
        <p:nvSpPr>
          <p:cNvPr id="29" name="Text 27"/>
          <p:cNvSpPr/>
          <p:nvPr/>
        </p:nvSpPr>
        <p:spPr>
          <a:xfrm>
            <a:off x="6400640" y="3946525"/>
            <a:ext cx="838179" cy="190500"/>
          </a:xfrm>
          <a:prstGeom prst="rect">
            <a:avLst/>
          </a:prstGeom>
          <a:noFill/>
          <a:ln/>
        </p:spPr>
        <p:txBody>
          <a:bodyPr wrap="none" lIns="0" tIns="0" rIns="0" bIns="0" rtlCol="0" anchor="t"/>
          <a:lstStyle/>
          <a:p>
            <a:pPr marL="0" indent="0" algn="l">
              <a:lnSpc>
                <a:spcPct val="83000"/>
              </a:lnSpc>
              <a:buNone/>
            </a:pPr>
            <a:r>
              <a:rPr lang="en-US" sz="1500" dirty="0">
                <a:solidFill>
                  <a:srgbClr val="D5D5D5"/>
                </a:solidFill>
                <a:latin typeface="Exo SemiBold" pitchFamily="34" charset="0"/>
                <a:ea typeface="Exo SemiBold" pitchFamily="34" charset="-122"/>
                <a:cs typeface="Exo SemiBold" pitchFamily="34" charset="-120"/>
              </a:rPr>
              <a:t>07</a:t>
            </a:r>
            <a:endParaRPr lang="en-US" sz="1500" dirty="0"/>
          </a:p>
        </p:txBody>
      </p:sp>
      <p:sp>
        <p:nvSpPr>
          <p:cNvPr id="30" name="Shape 28"/>
          <p:cNvSpPr/>
          <p:nvPr/>
        </p:nvSpPr>
        <p:spPr>
          <a:xfrm>
            <a:off x="6400640" y="4213225"/>
            <a:ext cx="4952876" cy="19050"/>
          </a:xfrm>
          <a:prstGeom prst="rect">
            <a:avLst/>
          </a:prstGeom>
          <a:solidFill>
            <a:srgbClr val="9BE1FF"/>
          </a:solidFill>
          <a:ln/>
        </p:spPr>
      </p:sp>
      <p:sp>
        <p:nvSpPr>
          <p:cNvPr id="31" name="Text 29"/>
          <p:cNvSpPr/>
          <p:nvPr/>
        </p:nvSpPr>
        <p:spPr>
          <a:xfrm>
            <a:off x="6400640" y="4347909"/>
            <a:ext cx="4952876" cy="318492"/>
          </a:xfrm>
          <a:prstGeom prst="rect">
            <a:avLst/>
          </a:prstGeom>
          <a:noFill/>
          <a:ln/>
        </p:spPr>
        <p:txBody>
          <a:bodyPr wrap="none" lIns="0" tIns="0" rIns="0" bIns="0" rtlCol="0" anchor="t"/>
          <a:lstStyle/>
          <a:p>
            <a:pPr marL="0" indent="0" algn="l">
              <a:lnSpc>
                <a:spcPct val="110000"/>
              </a:lnSpc>
              <a:buNone/>
            </a:pPr>
            <a:r>
              <a:rPr lang="en-US" sz="1900" dirty="0">
                <a:solidFill>
                  <a:srgbClr val="D5D5D5"/>
                </a:solidFill>
                <a:latin typeface="Exo" pitchFamily="34" charset="0"/>
                <a:ea typeface="Exo" pitchFamily="34" charset="-122"/>
                <a:cs typeface="Exo" pitchFamily="34" charset="-120"/>
              </a:rPr>
              <a:t>Disconnect handling</a:t>
            </a:r>
            <a:endParaRPr lang="en-US" sz="1900" dirty="0"/>
          </a:p>
        </p:txBody>
      </p:sp>
      <p:sp>
        <p:nvSpPr>
          <p:cNvPr id="32" name="Text 30"/>
          <p:cNvSpPr/>
          <p:nvPr/>
        </p:nvSpPr>
        <p:spPr>
          <a:xfrm>
            <a:off x="6400640" y="4807942"/>
            <a:ext cx="5181470" cy="270470"/>
          </a:xfrm>
          <a:prstGeom prst="rect">
            <a:avLst/>
          </a:prstGeom>
          <a:noFill/>
          <a:ln/>
        </p:spPr>
        <p:txBody>
          <a:bodyPr wrap="none" lIns="0" tIns="0" rIns="0" bIns="0" rtlCol="0" anchor="t"/>
          <a:lstStyle/>
          <a:p>
            <a:pPr marL="0" indent="0" algn="l">
              <a:lnSpc>
                <a:spcPct val="118000"/>
              </a:lnSpc>
              <a:buNone/>
            </a:pPr>
            <a:r>
              <a:rPr lang="en-US" sz="1500" dirty="0">
                <a:solidFill>
                  <a:srgbClr val="D5D5D5"/>
                </a:solidFill>
                <a:latin typeface="Exo" pitchFamily="34" charset="0"/>
                <a:ea typeface="Exo" pitchFamily="34" charset="-122"/>
                <a:cs typeface="Exo" pitchFamily="34" charset="-120"/>
              </a:rPr>
              <a:t>Close one client and demonstrate disconnect handling.</a:t>
            </a:r>
            <a:endParaRPr lang="en-US" sz="1500" dirty="0"/>
          </a:p>
        </p:txBody>
      </p:sp>
      <p:sp>
        <p:nvSpPr>
          <p:cNvPr id="33" name="Text 31"/>
          <p:cNvSpPr/>
          <p:nvPr/>
        </p:nvSpPr>
        <p:spPr>
          <a:xfrm>
            <a:off x="11819634" y="6458545"/>
            <a:ext cx="372061"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9D9D9D"/>
                </a:solidFill>
                <a:latin typeface="Fira Mono" pitchFamily="34" charset="0"/>
                <a:ea typeface="Fira Mono" pitchFamily="34" charset="-122"/>
                <a:cs typeface="Fira Mono" pitchFamily="34" charset="-120"/>
              </a:rPr>
              <a:t>10</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986</Words>
  <Application>Microsoft Office PowerPoint</Application>
  <PresentationFormat>Widescreen</PresentationFormat>
  <Paragraphs>120</Paragraphs>
  <Slides>10</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Fira Mono Medium</vt:lpstr>
      <vt:lpstr>MuseoModerno Bold</vt:lpstr>
      <vt:lpstr>Michroma</vt:lpstr>
      <vt:lpstr>Consolas</vt:lpstr>
      <vt:lpstr>Exo SemiBold</vt:lpstr>
      <vt:lpstr>Fira Mono</vt:lpstr>
      <vt:lpstr>Arial</vt:lpstr>
      <vt:lpstr>Exo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saisatyan84@gmail.com</cp:lastModifiedBy>
  <cp:revision>2</cp:revision>
  <dcterms:created xsi:type="dcterms:W3CDTF">2026-10-17T05:34:14Z</dcterms:created>
  <dcterms:modified xsi:type="dcterms:W3CDTF">2026-10-17T05:37:31Z</dcterms:modified>
</cp:coreProperties>
</file>